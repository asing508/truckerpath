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24769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4389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TRUCKER PATH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06624" y="402336"/>
            <a:ext cx="0" cy="310896"/>
          </a:xfrm>
          <a:prstGeom prst="line">
            <a:avLst/>
          </a:prstGeom>
          <a:solidFill>
            <a:srgbClr val="101722"/>
          </a:solidFill>
          <a:ln w="12700">
            <a:solidFill>
              <a:srgbClr val="8A98A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944368" y="4389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4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FLEET COPILOT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406640" y="448056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kern="0" spc="140" dirty="0">
                <a:solidFill>
                  <a:srgbClr val="93A2B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AI-NATIVE PRODUCT MANAGEMENT INTERNSHIP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13232" y="12984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Fleet Copilot</a:t>
            </a:r>
            <a:endParaRPr lang="en-US" sz="4700" dirty="0"/>
          </a:p>
        </p:txBody>
      </p:sp>
      <p:sp>
        <p:nvSpPr>
          <p:cNvPr id="8" name="Text 6"/>
          <p:cNvSpPr/>
          <p:nvPr/>
        </p:nvSpPr>
        <p:spPr>
          <a:xfrm>
            <a:off x="731520" y="228600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dispatcher's exception-to-action workspace.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731520" y="2907792"/>
            <a:ext cx="9052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A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watches every load, investigates what changed, proposes the next best action, and waits for the dispatcher to approve it.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3950208"/>
            <a:ext cx="1874520" cy="329184"/>
          </a:xfrm>
          <a:prstGeom prst="roundRect">
            <a:avLst>
              <a:gd name="adj" fmla="val 16667"/>
            </a:avLst>
          </a:prstGeom>
          <a:solidFill>
            <a:srgbClr val="1C2938"/>
          </a:solidFill>
          <a:ln w="12700">
            <a:solidFill>
              <a:srgbClr val="4050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005072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20" dirty="0">
                <a:solidFill>
                  <a:srgbClr val="BFD0E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5–50 TRUCK FLEETS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0" y="3950208"/>
            <a:ext cx="1938528" cy="329184"/>
          </a:xfrm>
          <a:prstGeom prst="roundRect">
            <a:avLst>
              <a:gd name="adj" fmla="val 16667"/>
            </a:avLst>
          </a:prstGeom>
          <a:solidFill>
            <a:srgbClr val="1C2938"/>
          </a:solidFill>
          <a:ln w="12700">
            <a:solidFill>
              <a:srgbClr val="4050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16352" y="4005072"/>
            <a:ext cx="1792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20" dirty="0">
                <a:solidFill>
                  <a:srgbClr val="BFD0E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WORKING PROTOTYPE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818888" y="3950208"/>
            <a:ext cx="2148840" cy="329184"/>
          </a:xfrm>
          <a:prstGeom prst="roundRect">
            <a:avLst>
              <a:gd name="adj" fmla="val 16667"/>
            </a:avLst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92040" y="4005072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2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ALL 5 PROBLEM AREAS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1520" y="4892040"/>
            <a:ext cx="1481328" cy="530352"/>
          </a:xfrm>
          <a:prstGeom prst="roundRect">
            <a:avLst>
              <a:gd name="adj" fmla="val 10345"/>
            </a:avLst>
          </a:prstGeom>
          <a:solidFill>
            <a:srgbClr val="1C2938"/>
          </a:solidFill>
          <a:ln w="12700">
            <a:solidFill>
              <a:srgbClr val="4050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065776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0" b="1" kern="0" spc="100" dirty="0">
                <a:solidFill>
                  <a:srgbClr val="D5DFE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WATCH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2240280" y="4956048"/>
            <a:ext cx="256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›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2523744" y="4892040"/>
            <a:ext cx="1481328" cy="530352"/>
          </a:xfrm>
          <a:prstGeom prst="roundRect">
            <a:avLst>
              <a:gd name="adj" fmla="val 10345"/>
            </a:avLst>
          </a:prstGeom>
          <a:solidFill>
            <a:srgbClr val="1C2938"/>
          </a:solidFill>
          <a:ln w="12700">
            <a:solidFill>
              <a:srgbClr val="4050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23744" y="5065776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0" b="1" kern="0" spc="100" dirty="0">
                <a:solidFill>
                  <a:srgbClr val="D5DFE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DETECT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4032504" y="4956048"/>
            <a:ext cx="256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›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4315968" y="4892040"/>
            <a:ext cx="1481328" cy="530352"/>
          </a:xfrm>
          <a:prstGeom prst="roundRect">
            <a:avLst>
              <a:gd name="adj" fmla="val 10345"/>
            </a:avLst>
          </a:prstGeom>
          <a:solidFill>
            <a:srgbClr val="1C2938"/>
          </a:solidFill>
          <a:ln w="12700">
            <a:solidFill>
              <a:srgbClr val="4050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15968" y="5065776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0" b="1" kern="0" spc="100" dirty="0">
                <a:solidFill>
                  <a:srgbClr val="D5DFE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INVESTIGATE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5824728" y="4956048"/>
            <a:ext cx="256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›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6108192" y="4892040"/>
            <a:ext cx="1481328" cy="530352"/>
          </a:xfrm>
          <a:prstGeom prst="roundRect">
            <a:avLst>
              <a:gd name="adj" fmla="val 10345"/>
            </a:avLst>
          </a:prstGeom>
          <a:solidFill>
            <a:srgbClr val="1C2938"/>
          </a:solidFill>
          <a:ln w="12700">
            <a:solidFill>
              <a:srgbClr val="4050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08192" y="5065776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0" b="1" kern="0" spc="100" dirty="0">
                <a:solidFill>
                  <a:srgbClr val="D5DFE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PROPOSE</a:t>
            </a:r>
            <a:endParaRPr lang="en-US" sz="930" dirty="0"/>
          </a:p>
        </p:txBody>
      </p:sp>
      <p:sp>
        <p:nvSpPr>
          <p:cNvPr id="27" name="Text 25"/>
          <p:cNvSpPr/>
          <p:nvPr/>
        </p:nvSpPr>
        <p:spPr>
          <a:xfrm>
            <a:off x="7616952" y="4956048"/>
            <a:ext cx="256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›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7900416" y="4892040"/>
            <a:ext cx="1481328" cy="530352"/>
          </a:xfrm>
          <a:prstGeom prst="roundRect">
            <a:avLst>
              <a:gd name="adj" fmla="val 10345"/>
            </a:avLst>
          </a:prstGeom>
          <a:solidFill>
            <a:srgbClr val="39B980"/>
          </a:solidFill>
          <a:ln w="12700">
            <a:solidFill>
              <a:srgbClr val="39B9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00416" y="5065776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0" b="1" kern="0" spc="100" dirty="0">
                <a:solidFill>
                  <a:srgbClr val="10172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APPROVE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9409176" y="4956048"/>
            <a:ext cx="256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›</a:t>
            </a:r>
            <a:endParaRPr lang="en-US" sz="2100" dirty="0"/>
          </a:p>
        </p:txBody>
      </p:sp>
      <p:sp>
        <p:nvSpPr>
          <p:cNvPr id="31" name="Shape 29"/>
          <p:cNvSpPr/>
          <p:nvPr/>
        </p:nvSpPr>
        <p:spPr>
          <a:xfrm>
            <a:off x="9692640" y="4892040"/>
            <a:ext cx="1481328" cy="530352"/>
          </a:xfrm>
          <a:prstGeom prst="roundRect">
            <a:avLst>
              <a:gd name="adj" fmla="val 10345"/>
            </a:avLst>
          </a:prstGeom>
          <a:solidFill>
            <a:srgbClr val="1C2938"/>
          </a:solidFill>
          <a:ln w="12700">
            <a:solidFill>
              <a:srgbClr val="4050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92640" y="5065776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0" b="1" kern="0" spc="100" dirty="0">
                <a:solidFill>
                  <a:srgbClr val="D5DFE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EXECUTE</a:t>
            </a:r>
            <a:endParaRPr lang="en-US" sz="930" dirty="0"/>
          </a:p>
        </p:txBody>
      </p:sp>
      <p:sp>
        <p:nvSpPr>
          <p:cNvPr id="33" name="Text 31"/>
          <p:cNvSpPr/>
          <p:nvPr/>
        </p:nvSpPr>
        <p:spPr>
          <a:xfrm>
            <a:off x="731520" y="6144768"/>
            <a:ext cx="5760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F90A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Aditya  ·  Trucker Path PM Take-Home  ·  July 2026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675120" y="614476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7F90A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Gemini calls  ·  human-approved execution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FLEET COPILOT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794760" y="6510528"/>
            <a:ext cx="4617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20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BRIEF TO PRODUCT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744200" y="649224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OPPORTUNITY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5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brief asked for at least two problems. I built one connected workflow across all five.</a:t>
            </a:r>
            <a:endParaRPr lang="en-US" sz="2450" dirty="0"/>
          </a:p>
        </p:txBody>
      </p:sp>
      <p:sp>
        <p:nvSpPr>
          <p:cNvPr id="8" name="Text 6"/>
          <p:cNvSpPr/>
          <p:nvPr/>
        </p:nvSpPr>
        <p:spPr>
          <a:xfrm>
            <a:off x="640080" y="1527048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Because the same load, driver, customer, and document facts should not live in five separate tools.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40080" y="1920240"/>
            <a:ext cx="3429000" cy="4160520"/>
          </a:xfrm>
          <a:prstGeom prst="roundRect">
            <a:avLst>
              <a:gd name="adj" fmla="val 1600"/>
            </a:avLst>
          </a:prstGeom>
          <a:solidFill>
            <a:srgbClr val="101722"/>
          </a:solidFill>
          <a:ln w="12700">
            <a:solidFill>
              <a:srgbClr val="1017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17627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8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PRIMARY USER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96112" y="2615184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dispatcher</a:t>
            </a:r>
            <a:endParaRPr lang="en-US" sz="2500" dirty="0"/>
          </a:p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wearing five hats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896112" y="3621024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C9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 mindset. Dispatcher workload. No procurement team.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96112" y="4407408"/>
            <a:ext cx="2606040" cy="0"/>
          </a:xfrm>
          <a:prstGeom prst="line">
            <a:avLst/>
          </a:prstGeom>
          <a:solidFill>
            <a:srgbClr val="101722"/>
          </a:solidFill>
          <a:ln w="12700">
            <a:solidFill>
              <a:srgbClr val="4151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4690872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9B98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5–50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874520" y="478231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BBC9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trucks in the target fleet</a:t>
            </a:r>
            <a:endParaRPr lang="en-US" sz="1120" dirty="0"/>
          </a:p>
        </p:txBody>
      </p:sp>
      <p:sp>
        <p:nvSpPr>
          <p:cNvPr id="16" name="Text 14"/>
          <p:cNvSpPr/>
          <p:nvPr/>
        </p:nvSpPr>
        <p:spPr>
          <a:xfrm>
            <a:off x="896112" y="535838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BC9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product must reduce calls, late surprises, and cash-flow drag—without taking control away.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15968" y="1844037"/>
            <a:ext cx="720547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17136" y="2026917"/>
            <a:ext cx="1143000" cy="274320"/>
          </a:xfrm>
          <a:prstGeom prst="roundRect">
            <a:avLst>
              <a:gd name="adj" fmla="val 20000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90288" y="2081781"/>
            <a:ext cx="996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40" b="1" kern="0" spc="2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COVER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5870448" y="1981197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Smart Dispatch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7955280" y="1972053"/>
            <a:ext cx="33101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feasible driver without a phone tree.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4315968" y="2657853"/>
            <a:ext cx="7205472" cy="694944"/>
          </a:xfrm>
          <a:prstGeom prst="roundRect">
            <a:avLst>
              <a:gd name="adj" fmla="val 7895"/>
            </a:avLst>
          </a:prstGeom>
          <a:solidFill>
            <a:srgbClr val="F9FAFC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17136" y="2840733"/>
            <a:ext cx="1143000" cy="274320"/>
          </a:xfrm>
          <a:prstGeom prst="roundRect">
            <a:avLst>
              <a:gd name="adj" fmla="val 20000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90288" y="2895597"/>
            <a:ext cx="996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40" b="1" kern="0" spc="2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WATCH</a:t>
            </a:r>
            <a:endParaRPr lang="en-US" sz="840" dirty="0"/>
          </a:p>
        </p:txBody>
      </p:sp>
      <p:sp>
        <p:nvSpPr>
          <p:cNvPr id="25" name="Text 23"/>
          <p:cNvSpPr/>
          <p:nvPr/>
        </p:nvSpPr>
        <p:spPr>
          <a:xfrm>
            <a:off x="5870448" y="2795013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Proactive Alerts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7955280" y="2785869"/>
            <a:ext cx="33101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Catch dark, late, off-route, detention, and HOS risk early.</a:t>
            </a:r>
            <a:endParaRPr lang="en-US" sz="1080" dirty="0"/>
          </a:p>
        </p:txBody>
      </p:sp>
      <p:sp>
        <p:nvSpPr>
          <p:cNvPr id="27" name="Shape 25"/>
          <p:cNvSpPr/>
          <p:nvPr/>
        </p:nvSpPr>
        <p:spPr>
          <a:xfrm>
            <a:off x="4315968" y="3471669"/>
            <a:ext cx="720547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17136" y="3654549"/>
            <a:ext cx="1143000" cy="274320"/>
          </a:xfrm>
          <a:prstGeom prst="roundRect">
            <a:avLst>
              <a:gd name="adj" fmla="val 20000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90288" y="3709413"/>
            <a:ext cx="996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40" b="1" kern="0" spc="2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UNDERSTAND</a:t>
            </a:r>
            <a:endParaRPr lang="en-US" sz="840" dirty="0"/>
          </a:p>
        </p:txBody>
      </p:sp>
      <p:sp>
        <p:nvSpPr>
          <p:cNvPr id="30" name="Text 28"/>
          <p:cNvSpPr/>
          <p:nvPr/>
        </p:nvSpPr>
        <p:spPr>
          <a:xfrm>
            <a:off x="5870448" y="3608829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Cost Intelligence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7955280" y="3599685"/>
            <a:ext cx="33101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where margin and cost per mile are moving.</a:t>
            </a:r>
            <a:endParaRPr lang="en-US" sz="1080" dirty="0"/>
          </a:p>
        </p:txBody>
      </p:sp>
      <p:sp>
        <p:nvSpPr>
          <p:cNvPr id="32" name="Shape 30"/>
          <p:cNvSpPr/>
          <p:nvPr/>
        </p:nvSpPr>
        <p:spPr>
          <a:xfrm>
            <a:off x="4315968" y="4285485"/>
            <a:ext cx="7205472" cy="694944"/>
          </a:xfrm>
          <a:prstGeom prst="roundRect">
            <a:avLst>
              <a:gd name="adj" fmla="val 7895"/>
            </a:avLst>
          </a:prstGeom>
          <a:solidFill>
            <a:srgbClr val="F9FAFC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17136" y="4468365"/>
            <a:ext cx="1143000" cy="274320"/>
          </a:xfrm>
          <a:prstGeom prst="roundRect">
            <a:avLst>
              <a:gd name="adj" fmla="val 20000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90288" y="4523229"/>
            <a:ext cx="996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40" b="1" kern="0" spc="2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PROTECT</a:t>
            </a:r>
            <a:endParaRPr lang="en-US" sz="840" dirty="0"/>
          </a:p>
        </p:txBody>
      </p:sp>
      <p:sp>
        <p:nvSpPr>
          <p:cNvPr id="35" name="Text 33"/>
          <p:cNvSpPr/>
          <p:nvPr/>
        </p:nvSpPr>
        <p:spPr>
          <a:xfrm>
            <a:off x="5870448" y="4422645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Safety &amp; Compliance</a:t>
            </a:r>
            <a:endParaRPr lang="en-US" sz="1220" dirty="0"/>
          </a:p>
        </p:txBody>
      </p:sp>
      <p:sp>
        <p:nvSpPr>
          <p:cNvPr id="36" name="Text 34"/>
          <p:cNvSpPr/>
          <p:nvPr/>
        </p:nvSpPr>
        <p:spPr>
          <a:xfrm>
            <a:off x="7955280" y="4413501"/>
            <a:ext cx="33101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Intervene before a violation, inspection miss, or fatigue event.</a:t>
            </a:r>
            <a:endParaRPr lang="en-US" sz="1080" dirty="0"/>
          </a:p>
        </p:txBody>
      </p:sp>
      <p:sp>
        <p:nvSpPr>
          <p:cNvPr id="37" name="Shape 35"/>
          <p:cNvSpPr/>
          <p:nvPr/>
        </p:nvSpPr>
        <p:spPr>
          <a:xfrm>
            <a:off x="4315968" y="5099301"/>
            <a:ext cx="720547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17136" y="5282181"/>
            <a:ext cx="1143000" cy="274320"/>
          </a:xfrm>
          <a:prstGeom prst="roundRect">
            <a:avLst>
              <a:gd name="adj" fmla="val 20000"/>
            </a:avLst>
          </a:prstGeom>
          <a:solidFill>
            <a:srgbClr val="E5F7EF"/>
          </a:solidFill>
          <a:ln w="12700">
            <a:solidFill>
              <a:srgbClr val="E5F7E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90288" y="5337045"/>
            <a:ext cx="996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40" b="1" kern="0" spc="20" dirty="0">
                <a:solidFill>
                  <a:srgbClr val="39B98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COLLECT</a:t>
            </a:r>
            <a:endParaRPr lang="en-US" sz="840" dirty="0"/>
          </a:p>
        </p:txBody>
      </p:sp>
      <p:sp>
        <p:nvSpPr>
          <p:cNvPr id="40" name="Text 38"/>
          <p:cNvSpPr/>
          <p:nvPr/>
        </p:nvSpPr>
        <p:spPr>
          <a:xfrm>
            <a:off x="5870448" y="5236461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Billing Automation</a:t>
            </a:r>
            <a:endParaRPr lang="en-US" sz="1220" dirty="0"/>
          </a:p>
        </p:txBody>
      </p:sp>
      <p:sp>
        <p:nvSpPr>
          <p:cNvPr id="41" name="Text 39"/>
          <p:cNvSpPr/>
          <p:nvPr/>
        </p:nvSpPr>
        <p:spPr>
          <a:xfrm>
            <a:off x="7955280" y="5227317"/>
            <a:ext cx="33101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complete paperwork into an accurate invoice faster.</a:t>
            </a:r>
            <a:endParaRPr lang="en-US" sz="1080" dirty="0"/>
          </a:p>
        </p:txBody>
      </p:sp>
      <p:sp>
        <p:nvSpPr>
          <p:cNvPr id="42" name="Shape 40"/>
          <p:cNvSpPr/>
          <p:nvPr/>
        </p:nvSpPr>
        <p:spPr>
          <a:xfrm>
            <a:off x="4315968" y="5860966"/>
            <a:ext cx="7205472" cy="566928"/>
          </a:xfrm>
          <a:prstGeom prst="roundRect">
            <a:avLst>
              <a:gd name="adj" fmla="val 9677"/>
            </a:avLst>
          </a:prstGeom>
          <a:solidFill>
            <a:srgbClr val="DCEEFF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17136" y="6077708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DECISION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5961888" y="6015056"/>
            <a:ext cx="5285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Connect the jobs around the load lifecycle—not five isolated AI demos.</a:t>
            </a:r>
            <a:endParaRPr lang="en-US" sz="11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FLEET COPILOT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794760" y="6510528"/>
            <a:ext cx="4617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20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USER WORKFLOW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744200" y="649224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IT WORKS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1323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Live events become approved work—not another wall of alerts.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40080" y="1426464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single event-driven loop connects the simulator, watchdogs, agents, action queue, and execution state.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40080" y="2148840"/>
            <a:ext cx="1572768" cy="1947672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340864"/>
            <a:ext cx="310896" cy="3108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2377440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" y="281635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80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INGEST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04672" y="3200400"/>
            <a:ext cx="12344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GPS, HOS, load, customer, documents</a:t>
            </a:r>
            <a:endParaRPr lang="en-US" sz="1020" dirty="0"/>
          </a:p>
        </p:txBody>
      </p:sp>
      <p:sp>
        <p:nvSpPr>
          <p:cNvPr id="14" name="Text 12"/>
          <p:cNvSpPr/>
          <p:nvPr/>
        </p:nvSpPr>
        <p:spPr>
          <a:xfrm>
            <a:off x="2212848" y="2834640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2468880" y="2148840"/>
            <a:ext cx="1572768" cy="1947672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33472" y="2340864"/>
            <a:ext cx="310896" cy="3108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33472" y="2377440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33472" y="281635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80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DETECT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633472" y="3200400"/>
            <a:ext cx="12344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Rules identify a meaningful exception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4041648" y="2834640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›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4297680" y="2148840"/>
            <a:ext cx="1572768" cy="1947672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62272" y="2340864"/>
            <a:ext cx="310896" cy="3108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62272" y="2377440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462272" y="281635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80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INVESTIGATE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462272" y="3200400"/>
            <a:ext cx="12344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calls read-only fleet tools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5870448" y="2834640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›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6126480" y="2148840"/>
            <a:ext cx="1572768" cy="1947672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91072" y="2340864"/>
            <a:ext cx="310896" cy="3108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91072" y="2377440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91072" y="281635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80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291072" y="3200400"/>
            <a:ext cx="12344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Evidence, impact, and editable draft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7699248" y="2834640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›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7955280" y="2148840"/>
            <a:ext cx="1572768" cy="1947672"/>
          </a:xfrm>
          <a:prstGeom prst="roundRect">
            <a:avLst>
              <a:gd name="adj" fmla="val 3488"/>
            </a:avLst>
          </a:prstGeom>
          <a:solidFill>
            <a:srgbClr val="E5F7EF"/>
          </a:solidFill>
          <a:ln w="12700">
            <a:solidFill>
              <a:srgbClr val="39B9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9872" y="2340864"/>
            <a:ext cx="310896" cy="310896"/>
          </a:xfrm>
          <a:prstGeom prst="ellipse">
            <a:avLst/>
          </a:prstGeom>
          <a:solidFill>
            <a:srgbClr val="39B980"/>
          </a:solidFill>
          <a:ln w="12700">
            <a:solidFill>
              <a:srgbClr val="39B9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119872" y="2377440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119872" y="281635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80" dirty="0">
                <a:solidFill>
                  <a:srgbClr val="39B98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APPROVE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119872" y="3200400"/>
            <a:ext cx="12344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Dispatcher edits, approves, or dismisses</a:t>
            </a:r>
            <a:endParaRPr lang="en-US" sz="1020" dirty="0"/>
          </a:p>
        </p:txBody>
      </p:sp>
      <p:sp>
        <p:nvSpPr>
          <p:cNvPr id="38" name="Text 36"/>
          <p:cNvSpPr/>
          <p:nvPr/>
        </p:nvSpPr>
        <p:spPr>
          <a:xfrm>
            <a:off x="9528048" y="2834640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›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9784080" y="2148840"/>
            <a:ext cx="1572768" cy="1947672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948672" y="2340864"/>
            <a:ext cx="310896" cy="3108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948672" y="2377440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948672" y="281635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80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9948672" y="3200400"/>
            <a:ext cx="12344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 is logged and product state updates</a:t>
            </a:r>
            <a:endParaRPr lang="en-US" sz="1020" dirty="0"/>
          </a:p>
        </p:txBody>
      </p:sp>
      <p:sp>
        <p:nvSpPr>
          <p:cNvPr id="44" name="Shape 42"/>
          <p:cNvSpPr/>
          <p:nvPr/>
        </p:nvSpPr>
        <p:spPr>
          <a:xfrm>
            <a:off x="640080" y="4462272"/>
            <a:ext cx="10881360" cy="1298448"/>
          </a:xfrm>
          <a:prstGeom prst="roundRect">
            <a:avLst>
              <a:gd name="adj" fmla="val 4225"/>
            </a:avLst>
          </a:prstGeom>
          <a:solidFill>
            <a:srgbClr val="101722"/>
          </a:solidFill>
          <a:ln w="12700">
            <a:solidFill>
              <a:srgbClr val="10172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96112" y="4681728"/>
            <a:ext cx="914400" cy="274320"/>
          </a:xfrm>
          <a:prstGeom prst="roundRect">
            <a:avLst>
              <a:gd name="adj" fmla="val 20000"/>
            </a:avLst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69264" y="4736592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1993392" y="46451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Dock dwell passes free time</a:t>
            </a:r>
            <a:endParaRPr lang="en-US" sz="1180" dirty="0"/>
          </a:p>
        </p:txBody>
      </p:sp>
      <p:sp>
        <p:nvSpPr>
          <p:cNvPr id="48" name="Text 46"/>
          <p:cNvSpPr/>
          <p:nvPr/>
        </p:nvSpPr>
        <p:spPr>
          <a:xfrm>
            <a:off x="3822192" y="4654296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3C9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900" dirty="0"/>
          </a:p>
        </p:txBody>
      </p:sp>
      <p:sp>
        <p:nvSpPr>
          <p:cNvPr id="49" name="Text 47"/>
          <p:cNvSpPr/>
          <p:nvPr/>
        </p:nvSpPr>
        <p:spPr>
          <a:xfrm>
            <a:off x="4187952" y="464515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POD + GPS are checked</a:t>
            </a:r>
            <a:endParaRPr lang="en-US" sz="1180" dirty="0"/>
          </a:p>
        </p:txBody>
      </p:sp>
      <p:sp>
        <p:nvSpPr>
          <p:cNvPr id="50" name="Text 48"/>
          <p:cNvSpPr/>
          <p:nvPr/>
        </p:nvSpPr>
        <p:spPr>
          <a:xfrm>
            <a:off x="5797296" y="4654296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3C9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900" dirty="0"/>
          </a:p>
        </p:txBody>
      </p:sp>
      <p:sp>
        <p:nvSpPr>
          <p:cNvPr id="51" name="Text 49"/>
          <p:cNvSpPr/>
          <p:nvPr/>
        </p:nvSpPr>
        <p:spPr>
          <a:xfrm>
            <a:off x="6163056" y="464515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39B98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$142.50 is proposed</a:t>
            </a:r>
            <a:endParaRPr lang="en-US" sz="1180" dirty="0"/>
          </a:p>
        </p:txBody>
      </p:sp>
      <p:sp>
        <p:nvSpPr>
          <p:cNvPr id="52" name="Text 50"/>
          <p:cNvSpPr/>
          <p:nvPr/>
        </p:nvSpPr>
        <p:spPr>
          <a:xfrm>
            <a:off x="7680960" y="4654296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3C9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900" dirty="0"/>
          </a:p>
        </p:txBody>
      </p:sp>
      <p:sp>
        <p:nvSpPr>
          <p:cNvPr id="53" name="Text 51"/>
          <p:cNvSpPr/>
          <p:nvPr/>
        </p:nvSpPr>
        <p:spPr>
          <a:xfrm>
            <a:off x="8046720" y="464515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Dispatcher approves invoice</a:t>
            </a:r>
            <a:endParaRPr lang="en-US" sz="1180" dirty="0"/>
          </a:p>
        </p:txBody>
      </p:sp>
      <p:sp>
        <p:nvSpPr>
          <p:cNvPr id="54" name="Text 52"/>
          <p:cNvSpPr/>
          <p:nvPr/>
        </p:nvSpPr>
        <p:spPr>
          <a:xfrm>
            <a:off x="896112" y="5212080"/>
            <a:ext cx="1001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dirty="0">
                <a:solidFill>
                  <a:srgbClr val="9F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stage emits the next state change; the dispatcher never has to manually re-enter the same fact.</a:t>
            </a:r>
            <a:endParaRPr lang="en-US" sz="1060" dirty="0"/>
          </a:p>
        </p:txBody>
      </p:sp>
      <p:sp>
        <p:nvSpPr>
          <p:cNvPr id="55" name="Shape 53"/>
          <p:cNvSpPr/>
          <p:nvPr/>
        </p:nvSpPr>
        <p:spPr>
          <a:xfrm>
            <a:off x="8887968" y="5879592"/>
            <a:ext cx="2633472" cy="329184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961120" y="593445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kern="0" spc="2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EVENT-DRIVEN BY DESIGN</a:t>
            </a:r>
            <a:endParaRPr lang="en-US" sz="8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FLEET COPILOT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794760" y="6510528"/>
            <a:ext cx="4617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20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 BUILT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744200" y="649224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PROTOTYPE SCOPE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1323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product surface covers the full load lifecycle.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40080" y="1426464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brief requires two problem areas; the working prototype covers all five.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9372600" y="1371600"/>
            <a:ext cx="2148840" cy="329184"/>
          </a:xfrm>
          <a:prstGeom prst="roundRect">
            <a:avLst>
              <a:gd name="adj" fmla="val 16667"/>
            </a:avLst>
          </a:prstGeom>
          <a:solidFill>
            <a:srgbClr val="E5F7EF"/>
          </a:solidFill>
          <a:ln w="12700">
            <a:solidFill>
              <a:srgbClr val="E5F7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45752" y="1426464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" dirty="0">
                <a:solidFill>
                  <a:srgbClr val="39B98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 OF 5 AREAS BUILT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8745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101722"/>
          </a:solidFill>
          <a:ln w="12700">
            <a:solidFill>
              <a:srgbClr val="1017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020824"/>
            <a:ext cx="16642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kern="0" spc="1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 AREA</a:t>
            </a:r>
            <a:endParaRPr lang="en-US" sz="920" dirty="0"/>
          </a:p>
        </p:txBody>
      </p:sp>
      <p:sp>
        <p:nvSpPr>
          <p:cNvPr id="13" name="Text 11"/>
          <p:cNvSpPr/>
          <p:nvPr/>
        </p:nvSpPr>
        <p:spPr>
          <a:xfrm>
            <a:off x="2907792" y="2020824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kern="0" spc="1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DISPATCHER JOB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6656832" y="202082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kern="0" spc="1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WORKING PROTOTYPE OUTCOME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40080" y="2377440"/>
            <a:ext cx="10881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2542032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3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Smart Dispatch</a:t>
            </a:r>
            <a:endParaRPr lang="en-US" sz="1130" dirty="0"/>
          </a:p>
        </p:txBody>
      </p:sp>
      <p:sp>
        <p:nvSpPr>
          <p:cNvPr id="17" name="Text 15"/>
          <p:cNvSpPr/>
          <p:nvPr/>
        </p:nvSpPr>
        <p:spPr>
          <a:xfrm>
            <a:off x="2907792" y="2496312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feasible driver without calling the fleet.</a:t>
            </a:r>
            <a:endParaRPr lang="en-US" sz="1070" dirty="0"/>
          </a:p>
        </p:txBody>
      </p:sp>
      <p:sp>
        <p:nvSpPr>
          <p:cNvPr id="18" name="Text 16"/>
          <p:cNvSpPr/>
          <p:nvPr/>
        </p:nvSpPr>
        <p:spPr>
          <a:xfrm>
            <a:off x="6656832" y="2496312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Scored candidates + agent recommendation + editable driver SMS.</a:t>
            </a:r>
            <a:endParaRPr lang="en-US" sz="107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881360" cy="658368"/>
          </a:xfrm>
          <a:prstGeom prst="rect">
            <a:avLst/>
          </a:prstGeom>
          <a:solidFill>
            <a:srgbClr val="F9FAFC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3273552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3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Proactive Alerts</a:t>
            </a:r>
            <a:endParaRPr lang="en-US" sz="1130" dirty="0"/>
          </a:p>
        </p:txBody>
      </p:sp>
      <p:sp>
        <p:nvSpPr>
          <p:cNvPr id="21" name="Text 19"/>
          <p:cNvSpPr/>
          <p:nvPr/>
        </p:nvSpPr>
        <p:spPr>
          <a:xfrm>
            <a:off x="2907792" y="3227832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Catch the exception before the customer calls.</a:t>
            </a:r>
            <a:endParaRPr lang="en-US" sz="1070" dirty="0"/>
          </a:p>
        </p:txBody>
      </p:sp>
      <p:sp>
        <p:nvSpPr>
          <p:cNvPr id="22" name="Text 20"/>
          <p:cNvSpPr/>
          <p:nvPr/>
        </p:nvSpPr>
        <p:spPr>
          <a:xfrm>
            <a:off x="6656832" y="3227832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Dark, off-route, ETA, detention, HOS, and maintenance actions in one queue.</a:t>
            </a:r>
            <a:endParaRPr lang="en-US" sz="1070" dirty="0"/>
          </a:p>
        </p:txBody>
      </p:sp>
      <p:sp>
        <p:nvSpPr>
          <p:cNvPr id="23" name="Shape 21"/>
          <p:cNvSpPr/>
          <p:nvPr/>
        </p:nvSpPr>
        <p:spPr>
          <a:xfrm>
            <a:off x="640080" y="3840480"/>
            <a:ext cx="10881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4005072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3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Cost Intelligence</a:t>
            </a:r>
            <a:endParaRPr lang="en-US" sz="1130" dirty="0"/>
          </a:p>
        </p:txBody>
      </p:sp>
      <p:sp>
        <p:nvSpPr>
          <p:cNvPr id="25" name="Text 23"/>
          <p:cNvSpPr/>
          <p:nvPr/>
        </p:nvSpPr>
        <p:spPr>
          <a:xfrm>
            <a:off x="2907792" y="3959352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margin and cost-per-mile movement.</a:t>
            </a:r>
            <a:endParaRPr lang="en-US" sz="1070" dirty="0"/>
          </a:p>
        </p:txBody>
      </p:sp>
      <p:sp>
        <p:nvSpPr>
          <p:cNvPr id="26" name="Text 24"/>
          <p:cNvSpPr/>
          <p:nvPr/>
        </p:nvSpPr>
        <p:spPr>
          <a:xfrm>
            <a:off x="6656832" y="3959352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 months of KPIs + plain-English questions answered through guarded SQL.</a:t>
            </a:r>
            <a:endParaRPr lang="en-US" sz="1070" dirty="0"/>
          </a:p>
        </p:txBody>
      </p:sp>
      <p:sp>
        <p:nvSpPr>
          <p:cNvPr id="27" name="Shape 25"/>
          <p:cNvSpPr/>
          <p:nvPr/>
        </p:nvSpPr>
        <p:spPr>
          <a:xfrm>
            <a:off x="640080" y="4572000"/>
            <a:ext cx="10881360" cy="658368"/>
          </a:xfrm>
          <a:prstGeom prst="rect">
            <a:avLst/>
          </a:prstGeom>
          <a:solidFill>
            <a:srgbClr val="F9FAFC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4736592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3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Safety &amp; Compliance</a:t>
            </a:r>
            <a:endParaRPr lang="en-US" sz="1130" dirty="0"/>
          </a:p>
        </p:txBody>
      </p:sp>
      <p:sp>
        <p:nvSpPr>
          <p:cNvPr id="29" name="Text 27"/>
          <p:cNvSpPr/>
          <p:nvPr/>
        </p:nvSpPr>
        <p:spPr>
          <a:xfrm>
            <a:off x="2907792" y="4690872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Intervene before risk becomes an incident or audit finding.</a:t>
            </a:r>
            <a:endParaRPr lang="en-US" sz="1070" dirty="0"/>
          </a:p>
        </p:txBody>
      </p:sp>
      <p:sp>
        <p:nvSpPr>
          <p:cNvPr id="30" name="Text 28"/>
          <p:cNvSpPr/>
          <p:nvPr/>
        </p:nvSpPr>
        <p:spPr>
          <a:xfrm>
            <a:off x="6656832" y="4690872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 clocks, risk watchlist, PM/inspection flags, and coaching briefs.</a:t>
            </a:r>
            <a:endParaRPr lang="en-US" sz="1070" dirty="0"/>
          </a:p>
        </p:txBody>
      </p:sp>
      <p:sp>
        <p:nvSpPr>
          <p:cNvPr id="31" name="Shape 29"/>
          <p:cNvSpPr/>
          <p:nvPr/>
        </p:nvSpPr>
        <p:spPr>
          <a:xfrm>
            <a:off x="640080" y="5303520"/>
            <a:ext cx="10881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1248" y="5468112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30" b="1" dirty="0">
                <a:solidFill>
                  <a:srgbClr val="39B98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Billing Automation</a:t>
            </a:r>
            <a:endParaRPr lang="en-US" sz="1130" dirty="0"/>
          </a:p>
        </p:txBody>
      </p:sp>
      <p:sp>
        <p:nvSpPr>
          <p:cNvPr id="33" name="Text 31"/>
          <p:cNvSpPr/>
          <p:nvPr/>
        </p:nvSpPr>
        <p:spPr>
          <a:xfrm>
            <a:off x="2907792" y="5422392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complete paperwork into an accurate invoice quickly.</a:t>
            </a:r>
            <a:endParaRPr lang="en-US" sz="1070" dirty="0"/>
          </a:p>
        </p:txBody>
      </p:sp>
      <p:sp>
        <p:nvSpPr>
          <p:cNvPr id="34" name="Text 32"/>
          <p:cNvSpPr/>
          <p:nvPr/>
        </p:nvSpPr>
        <p:spPr>
          <a:xfrm>
            <a:off x="6656832" y="5422392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Vision extraction + code reconciliation + audit memo + approved invoice.</a:t>
            </a:r>
            <a:endParaRPr lang="en-US" sz="1070" dirty="0"/>
          </a:p>
        </p:txBody>
      </p:sp>
      <p:sp>
        <p:nvSpPr>
          <p:cNvPr id="35" name="Text 33"/>
          <p:cNvSpPr/>
          <p:nvPr/>
        </p:nvSpPr>
        <p:spPr>
          <a:xfrm>
            <a:off x="640080" y="617220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PRE-LOAD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1508760" y="6254496"/>
            <a:ext cx="1874520" cy="0"/>
          </a:xfrm>
          <a:prstGeom prst="line">
            <a:avLst/>
          </a:prstGeom>
          <a:solidFill>
            <a:srgbClr val="F5F7FA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20440" y="617220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 TRANSIT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526280" y="6254496"/>
            <a:ext cx="1874520" cy="0"/>
          </a:xfrm>
          <a:prstGeom prst="line">
            <a:avLst/>
          </a:prstGeom>
          <a:solidFill>
            <a:srgbClr val="F5F7FA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0" y="617220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DELIVERED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7516368" y="6254496"/>
            <a:ext cx="1737360" cy="0"/>
          </a:xfrm>
          <a:prstGeom prst="line">
            <a:avLst/>
          </a:prstGeom>
          <a:solidFill>
            <a:srgbClr val="F5F7FA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372600" y="617220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ALWAYS ON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FLEET COPILOT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794760" y="6510528"/>
            <a:ext cx="4617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20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LLM RESPONSIBILITIES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744200" y="649224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AI ACTUALLY DOES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1323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Each module gives the LLM a narrow, explainable job.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40080" y="1426464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Trusted inputs go in; a recommendation, explanation, or draft comes out.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40080" y="1901952"/>
            <a:ext cx="10881360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901952"/>
            <a:ext cx="2029968" cy="722376"/>
          </a:xfrm>
          <a:prstGeom prst="roundRect">
            <a:avLst>
              <a:gd name="adj" fmla="val 7595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066544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Smart Dispatch — the AI:</a:t>
            </a:r>
            <a:endParaRPr lang="en-US" sz="1140" dirty="0"/>
          </a:p>
        </p:txBody>
      </p:sp>
      <p:sp>
        <p:nvSpPr>
          <p:cNvPr id="12" name="Shape 10"/>
          <p:cNvSpPr/>
          <p:nvPr/>
        </p:nvSpPr>
        <p:spPr>
          <a:xfrm>
            <a:off x="2852928" y="2103120"/>
            <a:ext cx="310896" cy="3108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52928" y="2139696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73552" y="2011680"/>
            <a:ext cx="22219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Reviews pre-scored driver options</a:t>
            </a:r>
            <a:endParaRPr lang="en-US" sz="1040" dirty="0"/>
          </a:p>
        </p:txBody>
      </p:sp>
      <p:sp>
        <p:nvSpPr>
          <p:cNvPr id="15" name="Shape 13"/>
          <p:cNvSpPr/>
          <p:nvPr/>
        </p:nvSpPr>
        <p:spPr>
          <a:xfrm>
            <a:off x="5669280" y="2103120"/>
            <a:ext cx="310896" cy="3108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2139696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89904" y="2011680"/>
            <a:ext cx="22219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Checks HOS feasibility and risk</a:t>
            </a:r>
            <a:endParaRPr lang="en-US" sz="1040" dirty="0"/>
          </a:p>
        </p:txBody>
      </p:sp>
      <p:sp>
        <p:nvSpPr>
          <p:cNvPr id="18" name="Shape 16"/>
          <p:cNvSpPr/>
          <p:nvPr/>
        </p:nvSpPr>
        <p:spPr>
          <a:xfrm>
            <a:off x="8485632" y="2103120"/>
            <a:ext cx="310896" cy="3108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85632" y="2139696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906256" y="2011680"/>
            <a:ext cx="22219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Recommends one driver, explains, and drafts SMS</a:t>
            </a:r>
            <a:endParaRPr lang="en-US" sz="1040" dirty="0"/>
          </a:p>
        </p:txBody>
      </p:sp>
      <p:sp>
        <p:nvSpPr>
          <p:cNvPr id="21" name="Shape 19"/>
          <p:cNvSpPr/>
          <p:nvPr/>
        </p:nvSpPr>
        <p:spPr>
          <a:xfrm>
            <a:off x="640080" y="2724912"/>
            <a:ext cx="10881360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2724912"/>
            <a:ext cx="2029968" cy="722376"/>
          </a:xfrm>
          <a:prstGeom prst="roundRect">
            <a:avLst>
              <a:gd name="adj" fmla="val 7595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" y="2889504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Proactive Alerts — the AI: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2852928" y="2926080"/>
            <a:ext cx="310896" cy="3108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852928" y="2962656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73552" y="2834640"/>
            <a:ext cx="22219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Pulls trip, GPS, HOS, and customer evidence</a:t>
            </a:r>
            <a:endParaRPr lang="en-US" sz="1040" dirty="0"/>
          </a:p>
        </p:txBody>
      </p:sp>
      <p:sp>
        <p:nvSpPr>
          <p:cNvPr id="27" name="Shape 25"/>
          <p:cNvSpPr/>
          <p:nvPr/>
        </p:nvSpPr>
        <p:spPr>
          <a:xfrm>
            <a:off x="5669280" y="2926080"/>
            <a:ext cx="310896" cy="3108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0" y="2962656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089904" y="2834640"/>
            <a:ext cx="22219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Forms a likely cause and impact</a:t>
            </a:r>
            <a:endParaRPr lang="en-US" sz="1040" dirty="0"/>
          </a:p>
        </p:txBody>
      </p:sp>
      <p:sp>
        <p:nvSpPr>
          <p:cNvPr id="30" name="Shape 28"/>
          <p:cNvSpPr/>
          <p:nvPr/>
        </p:nvSpPr>
        <p:spPr>
          <a:xfrm>
            <a:off x="8485632" y="2926080"/>
            <a:ext cx="310896" cy="3108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85632" y="2962656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906256" y="2834640"/>
            <a:ext cx="22219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Proposes the next action and message</a:t>
            </a:r>
            <a:endParaRPr lang="en-US" sz="1040" dirty="0"/>
          </a:p>
        </p:txBody>
      </p:sp>
      <p:sp>
        <p:nvSpPr>
          <p:cNvPr id="33" name="Shape 31"/>
          <p:cNvSpPr/>
          <p:nvPr/>
        </p:nvSpPr>
        <p:spPr>
          <a:xfrm>
            <a:off x="640080" y="3547872"/>
            <a:ext cx="10881360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3547872"/>
            <a:ext cx="2029968" cy="722376"/>
          </a:xfrm>
          <a:prstGeom prst="roundRect">
            <a:avLst>
              <a:gd name="adj" fmla="val 7595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1248" y="3712464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Cost Intelligence — the AI: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2852928" y="3749040"/>
            <a:ext cx="310896" cy="3108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852928" y="3785616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273552" y="3657600"/>
            <a:ext cx="22219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Turns plain English into guarded SQL</a:t>
            </a:r>
            <a:endParaRPr lang="en-US" sz="1040" dirty="0"/>
          </a:p>
        </p:txBody>
      </p:sp>
      <p:sp>
        <p:nvSpPr>
          <p:cNvPr id="39" name="Shape 37"/>
          <p:cNvSpPr/>
          <p:nvPr/>
        </p:nvSpPr>
        <p:spPr>
          <a:xfrm>
            <a:off x="5669280" y="3749040"/>
            <a:ext cx="310896" cy="3108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0" y="3785616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089904" y="3657600"/>
            <a:ext cx="22219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Reads only the returned rows</a:t>
            </a:r>
            <a:endParaRPr lang="en-US" sz="1040" dirty="0"/>
          </a:p>
        </p:txBody>
      </p:sp>
      <p:sp>
        <p:nvSpPr>
          <p:cNvPr id="42" name="Shape 40"/>
          <p:cNvSpPr/>
          <p:nvPr/>
        </p:nvSpPr>
        <p:spPr>
          <a:xfrm>
            <a:off x="8485632" y="3749040"/>
            <a:ext cx="310896" cy="3108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485632" y="3785616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906256" y="3657600"/>
            <a:ext cx="22219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Explains the result and chart-ready insight</a:t>
            </a:r>
            <a:endParaRPr lang="en-US" sz="1040" dirty="0"/>
          </a:p>
        </p:txBody>
      </p:sp>
      <p:sp>
        <p:nvSpPr>
          <p:cNvPr id="45" name="Shape 43"/>
          <p:cNvSpPr/>
          <p:nvPr/>
        </p:nvSpPr>
        <p:spPr>
          <a:xfrm>
            <a:off x="640080" y="4370832"/>
            <a:ext cx="10881360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0080" y="4370832"/>
            <a:ext cx="2029968" cy="722376"/>
          </a:xfrm>
          <a:prstGeom prst="roundRect">
            <a:avLst>
              <a:gd name="adj" fmla="val 7595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41248" y="4535424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Safety — the AI: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2852928" y="4572000"/>
            <a:ext cx="310896" cy="3108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852928" y="4608576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273552" y="4480560"/>
            <a:ext cx="22219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Reads computed driver-risk factors</a:t>
            </a:r>
            <a:endParaRPr lang="en-US" sz="1040" dirty="0"/>
          </a:p>
        </p:txBody>
      </p:sp>
      <p:sp>
        <p:nvSpPr>
          <p:cNvPr id="51" name="Shape 49"/>
          <p:cNvSpPr/>
          <p:nvPr/>
        </p:nvSpPr>
        <p:spPr>
          <a:xfrm>
            <a:off x="5669280" y="4572000"/>
            <a:ext cx="310896" cy="3108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69280" y="4608576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089904" y="4480560"/>
            <a:ext cx="22219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Separates urgent from historical risk</a:t>
            </a:r>
            <a:endParaRPr lang="en-US" sz="1040" dirty="0"/>
          </a:p>
        </p:txBody>
      </p:sp>
      <p:sp>
        <p:nvSpPr>
          <p:cNvPr id="54" name="Shape 52"/>
          <p:cNvSpPr/>
          <p:nvPr/>
        </p:nvSpPr>
        <p:spPr>
          <a:xfrm>
            <a:off x="8485632" y="4572000"/>
            <a:ext cx="310896" cy="3108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85632" y="4608576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8906256" y="4480560"/>
            <a:ext cx="22219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Writes a coaching brief and talking points</a:t>
            </a:r>
            <a:endParaRPr lang="en-US" sz="1040" dirty="0"/>
          </a:p>
        </p:txBody>
      </p:sp>
      <p:sp>
        <p:nvSpPr>
          <p:cNvPr id="57" name="Shape 55"/>
          <p:cNvSpPr/>
          <p:nvPr/>
        </p:nvSpPr>
        <p:spPr>
          <a:xfrm>
            <a:off x="640080" y="5193792"/>
            <a:ext cx="10881360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40080" y="5193792"/>
            <a:ext cx="2029968" cy="722376"/>
          </a:xfrm>
          <a:prstGeom prst="roundRect">
            <a:avLst>
              <a:gd name="adj" fmla="val 7595"/>
            </a:avLst>
          </a:prstGeom>
          <a:solidFill>
            <a:srgbClr val="E5F7EF"/>
          </a:solidFill>
          <a:ln w="12700">
            <a:solidFill>
              <a:srgbClr val="E5F7E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41248" y="5358384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39B98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Billing — the AI: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2852928" y="5394960"/>
            <a:ext cx="310896" cy="310896"/>
          </a:xfrm>
          <a:prstGeom prst="ellipse">
            <a:avLst/>
          </a:prstGeom>
          <a:solidFill>
            <a:srgbClr val="39B980"/>
          </a:solidFill>
          <a:ln w="12700">
            <a:solidFill>
              <a:srgbClr val="39B98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852928" y="5431536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273552" y="5303520"/>
            <a:ext cx="22219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Extracts document fields with Vision</a:t>
            </a:r>
            <a:endParaRPr lang="en-US" sz="1040" dirty="0"/>
          </a:p>
        </p:txBody>
      </p:sp>
      <p:sp>
        <p:nvSpPr>
          <p:cNvPr id="63" name="Shape 61"/>
          <p:cNvSpPr/>
          <p:nvPr/>
        </p:nvSpPr>
        <p:spPr>
          <a:xfrm>
            <a:off x="5669280" y="5394960"/>
            <a:ext cx="310896" cy="310896"/>
          </a:xfrm>
          <a:prstGeom prst="ellipse">
            <a:avLst/>
          </a:prstGeom>
          <a:solidFill>
            <a:srgbClr val="39B980"/>
          </a:solidFill>
          <a:ln w="12700">
            <a:solidFill>
              <a:srgbClr val="39B98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669280" y="5431536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089904" y="5303520"/>
            <a:ext cx="22219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Explains code-confirmed discrepancies</a:t>
            </a:r>
            <a:endParaRPr lang="en-US" sz="1040" dirty="0"/>
          </a:p>
        </p:txBody>
      </p:sp>
      <p:sp>
        <p:nvSpPr>
          <p:cNvPr id="66" name="Shape 64"/>
          <p:cNvSpPr/>
          <p:nvPr/>
        </p:nvSpPr>
        <p:spPr>
          <a:xfrm>
            <a:off x="8485632" y="5394960"/>
            <a:ext cx="310896" cy="310896"/>
          </a:xfrm>
          <a:prstGeom prst="ellipse">
            <a:avLst/>
          </a:prstGeom>
          <a:solidFill>
            <a:srgbClr val="39B980"/>
          </a:solidFill>
          <a:ln w="12700">
            <a:solidFill>
              <a:srgbClr val="39B98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485632" y="5431536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8906256" y="5303520"/>
            <a:ext cx="22219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Drafts the audit memo and invoice email</a:t>
            </a:r>
            <a:endParaRPr lang="en-US" sz="1040" dirty="0"/>
          </a:p>
        </p:txBody>
      </p:sp>
      <p:sp>
        <p:nvSpPr>
          <p:cNvPr id="69" name="Shape 67"/>
          <p:cNvSpPr/>
          <p:nvPr/>
        </p:nvSpPr>
        <p:spPr>
          <a:xfrm>
            <a:off x="640080" y="6044184"/>
            <a:ext cx="10881360" cy="310896"/>
          </a:xfrm>
          <a:prstGeom prst="roundRect">
            <a:avLst>
              <a:gd name="adj" fmla="val 17647"/>
            </a:avLst>
          </a:prstGeom>
          <a:solidFill>
            <a:srgbClr val="101722"/>
          </a:solidFill>
          <a:ln w="12700">
            <a:solidFill>
              <a:srgbClr val="101722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22960" y="6126480"/>
            <a:ext cx="10515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LLM interprets, synthesizes, and communicates. It does not own HOS, detection, risk scores, SQL permissions, or money math.</a:t>
            </a:r>
            <a:endParaRPr lang="en-US" sz="9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FLEET COPILOT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794760" y="6510528"/>
            <a:ext cx="4617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20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TRUST AND CONTROL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744200" y="649224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AI-NATIVE, NOT AI-EVERYWHERE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code controls facts. The model handles judgment. The dispatcher controls consequences.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153619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boundary makes the product useful without asking a small fleet to trust a black box.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40080" y="1993392"/>
            <a:ext cx="3346704" cy="3401568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993392"/>
            <a:ext cx="3346704" cy="475488"/>
          </a:xfrm>
          <a:prstGeom prst="roundRect">
            <a:avLst>
              <a:gd name="adj" fmla="val 11538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157984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10" b="1" kern="0" spc="8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  DETERMINISTIC CODE</a:t>
            </a:r>
            <a:endParaRPr lang="en-US" sz="910" dirty="0"/>
          </a:p>
        </p:txBody>
      </p:sp>
      <p:sp>
        <p:nvSpPr>
          <p:cNvPr id="12" name="Text 10"/>
          <p:cNvSpPr/>
          <p:nvPr/>
        </p:nvSpPr>
        <p:spPr>
          <a:xfrm>
            <a:off x="841248" y="2688336"/>
            <a:ext cx="2907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Compute and enforce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59536" y="3319272"/>
            <a:ext cx="82296" cy="822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3218688"/>
            <a:ext cx="27066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 ledger and legal schedules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859536" y="3785616"/>
            <a:ext cx="82296" cy="822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3685032"/>
            <a:ext cx="27066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 scores and event detectors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859536" y="4251960"/>
            <a:ext cx="82296" cy="822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4128" y="4151376"/>
            <a:ext cx="27066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Detention, invoice, and impact math</a:t>
            </a:r>
            <a:endParaRPr lang="en-US" sz="1070" dirty="0"/>
          </a:p>
        </p:txBody>
      </p:sp>
      <p:sp>
        <p:nvSpPr>
          <p:cNvPr id="19" name="Shape 17"/>
          <p:cNvSpPr/>
          <p:nvPr/>
        </p:nvSpPr>
        <p:spPr>
          <a:xfrm>
            <a:off x="859536" y="4718304"/>
            <a:ext cx="82296" cy="822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4128" y="4617720"/>
            <a:ext cx="27066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SQL authorizer and schema checks</a:t>
            </a:r>
            <a:endParaRPr lang="en-US" sz="1070" dirty="0"/>
          </a:p>
        </p:txBody>
      </p:sp>
      <p:sp>
        <p:nvSpPr>
          <p:cNvPr id="21" name="Text 19"/>
          <p:cNvSpPr/>
          <p:nvPr/>
        </p:nvSpPr>
        <p:spPr>
          <a:xfrm>
            <a:off x="4023360" y="3401568"/>
            <a:ext cx="347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4407408" y="1993392"/>
            <a:ext cx="3346704" cy="3401568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07408" y="1993392"/>
            <a:ext cx="3346704" cy="475488"/>
          </a:xfrm>
          <a:prstGeom prst="roundRect">
            <a:avLst>
              <a:gd name="adj" fmla="val 11538"/>
            </a:avLst>
          </a:prstGeom>
          <a:solidFill>
            <a:srgbClr val="EEEAFE"/>
          </a:solidFill>
          <a:ln w="12700">
            <a:solidFill>
              <a:srgbClr val="EEEA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08576" y="2157984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10" b="1" kern="0" spc="80" dirty="0">
                <a:solidFill>
                  <a:srgbClr val="7769D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  GEMINI AGENT</a:t>
            </a:r>
            <a:endParaRPr lang="en-US" sz="910" dirty="0"/>
          </a:p>
        </p:txBody>
      </p:sp>
      <p:sp>
        <p:nvSpPr>
          <p:cNvPr id="25" name="Text 23"/>
          <p:cNvSpPr/>
          <p:nvPr/>
        </p:nvSpPr>
        <p:spPr>
          <a:xfrm>
            <a:off x="4608576" y="2688336"/>
            <a:ext cx="2907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Interpret and communicate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4626864" y="3319272"/>
            <a:ext cx="82296" cy="82296"/>
          </a:xfrm>
          <a:prstGeom prst="ellipse">
            <a:avLst/>
          </a:prstGeom>
          <a:solidFill>
            <a:srgbClr val="7769D4"/>
          </a:solidFill>
          <a:ln w="12700">
            <a:solidFill>
              <a:srgbClr val="7769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91456" y="3218688"/>
            <a:ext cx="27066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Investigates through read-only tools</a:t>
            </a:r>
            <a:endParaRPr lang="en-US" sz="1070" dirty="0"/>
          </a:p>
        </p:txBody>
      </p:sp>
      <p:sp>
        <p:nvSpPr>
          <p:cNvPr id="28" name="Shape 26"/>
          <p:cNvSpPr/>
          <p:nvPr/>
        </p:nvSpPr>
        <p:spPr>
          <a:xfrm>
            <a:off x="4626864" y="3785616"/>
            <a:ext cx="82296" cy="82296"/>
          </a:xfrm>
          <a:prstGeom prst="ellipse">
            <a:avLst/>
          </a:prstGeom>
          <a:solidFill>
            <a:srgbClr val="7769D4"/>
          </a:solidFill>
          <a:ln w="12700">
            <a:solidFill>
              <a:srgbClr val="7769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91456" y="3685032"/>
            <a:ext cx="27066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Synthesizes evidence and tradeoffs</a:t>
            </a:r>
            <a:endParaRPr lang="en-US" sz="1070" dirty="0"/>
          </a:p>
        </p:txBody>
      </p:sp>
      <p:sp>
        <p:nvSpPr>
          <p:cNvPr id="30" name="Shape 28"/>
          <p:cNvSpPr/>
          <p:nvPr/>
        </p:nvSpPr>
        <p:spPr>
          <a:xfrm>
            <a:off x="4626864" y="4251960"/>
            <a:ext cx="82296" cy="82296"/>
          </a:xfrm>
          <a:prstGeom prst="ellipse">
            <a:avLst/>
          </a:prstGeom>
          <a:solidFill>
            <a:srgbClr val="7769D4"/>
          </a:solidFill>
          <a:ln w="12700">
            <a:solidFill>
              <a:srgbClr val="7769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91456" y="4151376"/>
            <a:ext cx="27066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Recommends one next action</a:t>
            </a:r>
            <a:endParaRPr lang="en-US" sz="1070" dirty="0"/>
          </a:p>
        </p:txBody>
      </p:sp>
      <p:sp>
        <p:nvSpPr>
          <p:cNvPr id="32" name="Shape 30"/>
          <p:cNvSpPr/>
          <p:nvPr/>
        </p:nvSpPr>
        <p:spPr>
          <a:xfrm>
            <a:off x="4626864" y="4718304"/>
            <a:ext cx="82296" cy="82296"/>
          </a:xfrm>
          <a:prstGeom prst="ellipse">
            <a:avLst/>
          </a:prstGeom>
          <a:solidFill>
            <a:srgbClr val="7769D4"/>
          </a:solidFill>
          <a:ln w="12700">
            <a:solidFill>
              <a:srgbClr val="7769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91456" y="4617720"/>
            <a:ext cx="27066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Drafts SMS, email, brief, or memo</a:t>
            </a:r>
            <a:endParaRPr lang="en-US" sz="1070" dirty="0"/>
          </a:p>
        </p:txBody>
      </p:sp>
      <p:sp>
        <p:nvSpPr>
          <p:cNvPr id="34" name="Text 32"/>
          <p:cNvSpPr/>
          <p:nvPr/>
        </p:nvSpPr>
        <p:spPr>
          <a:xfrm>
            <a:off x="7790688" y="3401568"/>
            <a:ext cx="347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›</a:t>
            </a:r>
            <a:endParaRPr lang="en-US" sz="3000" dirty="0"/>
          </a:p>
        </p:txBody>
      </p:sp>
      <p:sp>
        <p:nvSpPr>
          <p:cNvPr id="35" name="Shape 33"/>
          <p:cNvSpPr/>
          <p:nvPr/>
        </p:nvSpPr>
        <p:spPr>
          <a:xfrm>
            <a:off x="8174736" y="1993392"/>
            <a:ext cx="3346704" cy="3401568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174736" y="1993392"/>
            <a:ext cx="3346704" cy="475488"/>
          </a:xfrm>
          <a:prstGeom prst="roundRect">
            <a:avLst>
              <a:gd name="adj" fmla="val 11538"/>
            </a:avLst>
          </a:prstGeom>
          <a:solidFill>
            <a:srgbClr val="E5F7EF"/>
          </a:solidFill>
          <a:ln w="12700">
            <a:solidFill>
              <a:srgbClr val="E5F7E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375904" y="2157984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10" b="1" kern="0" spc="80" dirty="0">
                <a:solidFill>
                  <a:srgbClr val="39B98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  DISPATCHER</a:t>
            </a:r>
            <a:endParaRPr lang="en-US" sz="910" dirty="0"/>
          </a:p>
        </p:txBody>
      </p:sp>
      <p:sp>
        <p:nvSpPr>
          <p:cNvPr id="38" name="Text 36"/>
          <p:cNvSpPr/>
          <p:nvPr/>
        </p:nvSpPr>
        <p:spPr>
          <a:xfrm>
            <a:off x="8375904" y="2688336"/>
            <a:ext cx="2907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Decide and execute</a:t>
            </a:r>
            <a:endParaRPr lang="en-US" sz="1700" dirty="0"/>
          </a:p>
        </p:txBody>
      </p:sp>
      <p:sp>
        <p:nvSpPr>
          <p:cNvPr id="39" name="Shape 37"/>
          <p:cNvSpPr/>
          <p:nvPr/>
        </p:nvSpPr>
        <p:spPr>
          <a:xfrm>
            <a:off x="8394192" y="3319272"/>
            <a:ext cx="82296" cy="82296"/>
          </a:xfrm>
          <a:prstGeom prst="ellipse">
            <a:avLst/>
          </a:prstGeom>
          <a:solidFill>
            <a:srgbClr val="39B980"/>
          </a:solidFill>
          <a:ln w="12700">
            <a:solidFill>
              <a:srgbClr val="39B98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58784" y="3218688"/>
            <a:ext cx="27066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Sees evidence, rationale, and impact</a:t>
            </a:r>
            <a:endParaRPr lang="en-US" sz="1070" dirty="0"/>
          </a:p>
        </p:txBody>
      </p:sp>
      <p:sp>
        <p:nvSpPr>
          <p:cNvPr id="41" name="Shape 39"/>
          <p:cNvSpPr/>
          <p:nvPr/>
        </p:nvSpPr>
        <p:spPr>
          <a:xfrm>
            <a:off x="8394192" y="3785616"/>
            <a:ext cx="82296" cy="82296"/>
          </a:xfrm>
          <a:prstGeom prst="ellipse">
            <a:avLst/>
          </a:prstGeom>
          <a:solidFill>
            <a:srgbClr val="39B980"/>
          </a:solidFill>
          <a:ln w="12700">
            <a:solidFill>
              <a:srgbClr val="39B98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558784" y="3685032"/>
            <a:ext cx="27066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Edits the draft inline</a:t>
            </a:r>
            <a:endParaRPr lang="en-US" sz="1070" dirty="0"/>
          </a:p>
        </p:txBody>
      </p:sp>
      <p:sp>
        <p:nvSpPr>
          <p:cNvPr id="43" name="Shape 41"/>
          <p:cNvSpPr/>
          <p:nvPr/>
        </p:nvSpPr>
        <p:spPr>
          <a:xfrm>
            <a:off x="8394192" y="4251960"/>
            <a:ext cx="82296" cy="82296"/>
          </a:xfrm>
          <a:prstGeom prst="ellipse">
            <a:avLst/>
          </a:prstGeom>
          <a:solidFill>
            <a:srgbClr val="39B980"/>
          </a:solidFill>
          <a:ln w="12700">
            <a:solidFill>
              <a:srgbClr val="39B98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558784" y="4151376"/>
            <a:ext cx="27066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Approves or dismisses the proposal</a:t>
            </a:r>
            <a:endParaRPr lang="en-US" sz="1070" dirty="0"/>
          </a:p>
        </p:txBody>
      </p:sp>
      <p:sp>
        <p:nvSpPr>
          <p:cNvPr id="45" name="Shape 43"/>
          <p:cNvSpPr/>
          <p:nvPr/>
        </p:nvSpPr>
        <p:spPr>
          <a:xfrm>
            <a:off x="8394192" y="4718304"/>
            <a:ext cx="82296" cy="82296"/>
          </a:xfrm>
          <a:prstGeom prst="ellipse">
            <a:avLst/>
          </a:prstGeom>
          <a:solidFill>
            <a:srgbClr val="39B980"/>
          </a:solidFill>
          <a:ln w="12700">
            <a:solidFill>
              <a:srgbClr val="39B98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558784" y="4617720"/>
            <a:ext cx="27066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Owns the final operational decision</a:t>
            </a:r>
            <a:endParaRPr lang="en-US" sz="1070" dirty="0"/>
          </a:p>
        </p:txBody>
      </p:sp>
      <p:sp>
        <p:nvSpPr>
          <p:cNvPr id="47" name="Shape 45"/>
          <p:cNvSpPr/>
          <p:nvPr/>
        </p:nvSpPr>
        <p:spPr>
          <a:xfrm>
            <a:off x="640080" y="5650992"/>
            <a:ext cx="2523744" cy="329184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3232" y="57058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kern="0" spc="2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DIRECT MODEL WRITES</a:t>
            </a:r>
            <a:endParaRPr lang="en-US" sz="860" dirty="0"/>
          </a:p>
        </p:txBody>
      </p:sp>
      <p:sp>
        <p:nvSpPr>
          <p:cNvPr id="49" name="Shape 47"/>
          <p:cNvSpPr/>
          <p:nvPr/>
        </p:nvSpPr>
        <p:spPr>
          <a:xfrm>
            <a:off x="3383280" y="5650992"/>
            <a:ext cx="2523744" cy="329184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56432" y="57058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kern="0" spc="2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LLM MONEY / HOS MATH</a:t>
            </a:r>
            <a:endParaRPr lang="en-US" sz="860" dirty="0"/>
          </a:p>
        </p:txBody>
      </p:sp>
      <p:sp>
        <p:nvSpPr>
          <p:cNvPr id="51" name="Shape 49"/>
          <p:cNvSpPr/>
          <p:nvPr/>
        </p:nvSpPr>
        <p:spPr>
          <a:xfrm>
            <a:off x="6126480" y="5650992"/>
            <a:ext cx="2523744" cy="329184"/>
          </a:xfrm>
          <a:prstGeom prst="roundRect">
            <a:avLst>
              <a:gd name="adj" fmla="val 16667"/>
            </a:avLst>
          </a:prstGeom>
          <a:solidFill>
            <a:srgbClr val="EEEAFE"/>
          </a:solidFill>
          <a:ln w="12700">
            <a:solidFill>
              <a:srgbClr val="EEEAF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99632" y="57058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kern="0" spc="20" dirty="0">
                <a:solidFill>
                  <a:srgbClr val="7769D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EVERY TOOL CALL TRACED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8869680" y="5650992"/>
            <a:ext cx="2523744" cy="329184"/>
          </a:xfrm>
          <a:prstGeom prst="roundRect">
            <a:avLst>
              <a:gd name="adj" fmla="val 16667"/>
            </a:avLst>
          </a:prstGeom>
          <a:solidFill>
            <a:srgbClr val="E5F7EF"/>
          </a:solidFill>
          <a:ln w="12700">
            <a:solidFill>
              <a:srgbClr val="E5F7E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942832" y="57058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kern="0" spc="20" dirty="0">
                <a:solidFill>
                  <a:srgbClr val="39B98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EVERY ACTION HUMAN-GATED</a:t>
            </a:r>
            <a:endParaRPr lang="en-US" sz="860" dirty="0"/>
          </a:p>
        </p:txBody>
      </p:sp>
      <p:sp>
        <p:nvSpPr>
          <p:cNvPr id="55" name="Text 53"/>
          <p:cNvSpPr/>
          <p:nvPr/>
        </p:nvSpPr>
        <p:spPr>
          <a:xfrm>
            <a:off x="640080" y="6099048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40" i="1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the LLM is unavailable, fleet state remains visible; only AI-generated recommendations pause.</a:t>
            </a:r>
            <a:endParaRPr lang="en-US" sz="10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FLEET COPILOT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794760" y="6510528"/>
            <a:ext cx="4617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20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PROVENANCE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744200" y="649224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REAL, SIMULATED, AND GENERATED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13232"/>
            <a:ext cx="108813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demo is explicit about provenance - because trust starts with honest labels.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40080" y="1517904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data type exists for a different reason; none is presented as something it is not.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40080" y="1874520"/>
            <a:ext cx="3346704" cy="3950208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2075688"/>
            <a:ext cx="1024128" cy="274320"/>
          </a:xfrm>
          <a:prstGeom prst="roundRect">
            <a:avLst>
              <a:gd name="adj" fmla="val 20000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13055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kern="0" spc="2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REAL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841248" y="257860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3-year warehouse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41248" y="3035808"/>
            <a:ext cx="2889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 CSVs  ·  ~550k rows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859536" y="3703320"/>
            <a:ext cx="82296" cy="822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4128" y="3602736"/>
            <a:ext cx="26883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85,410 loads and 85,410 trips</a:t>
            </a:r>
            <a:endParaRPr lang="en-US" sz="1040" dirty="0"/>
          </a:p>
        </p:txBody>
      </p:sp>
      <p:sp>
        <p:nvSpPr>
          <p:cNvPr id="16" name="Shape 14"/>
          <p:cNvSpPr/>
          <p:nvPr/>
        </p:nvSpPr>
        <p:spPr>
          <a:xfrm>
            <a:off x="859536" y="4114800"/>
            <a:ext cx="82296" cy="822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4128" y="4014216"/>
            <a:ext cx="26883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196,442 fuel purchases</a:t>
            </a:r>
            <a:endParaRPr lang="en-US" sz="1040" dirty="0"/>
          </a:p>
        </p:txBody>
      </p:sp>
      <p:sp>
        <p:nvSpPr>
          <p:cNvPr id="18" name="Shape 16"/>
          <p:cNvSpPr/>
          <p:nvPr/>
        </p:nvSpPr>
        <p:spPr>
          <a:xfrm>
            <a:off x="859536" y="4526280"/>
            <a:ext cx="82296" cy="822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4128" y="4425696"/>
            <a:ext cx="26883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170,820 delivery events</a:t>
            </a:r>
            <a:endParaRPr lang="en-US" sz="1040" dirty="0"/>
          </a:p>
        </p:txBody>
      </p:sp>
      <p:sp>
        <p:nvSpPr>
          <p:cNvPr id="20" name="Shape 18"/>
          <p:cNvSpPr/>
          <p:nvPr/>
        </p:nvSpPr>
        <p:spPr>
          <a:xfrm>
            <a:off x="859536" y="4937760"/>
            <a:ext cx="82296" cy="822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4128" y="4837176"/>
            <a:ext cx="26883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Powers KPIs, lane history, and scorer features</a:t>
            </a:r>
            <a:endParaRPr lang="en-US" sz="1040" dirty="0"/>
          </a:p>
        </p:txBody>
      </p:sp>
      <p:sp>
        <p:nvSpPr>
          <p:cNvPr id="22" name="Shape 20"/>
          <p:cNvSpPr/>
          <p:nvPr/>
        </p:nvSpPr>
        <p:spPr>
          <a:xfrm>
            <a:off x="841248" y="5330952"/>
            <a:ext cx="2926080" cy="0"/>
          </a:xfrm>
          <a:prstGeom prst="line">
            <a:avLst/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" y="5468112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C6C7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Answers: What has happened over time?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407408" y="1874520"/>
            <a:ext cx="3346704" cy="3950208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08576" y="2075688"/>
            <a:ext cx="1024128" cy="274320"/>
          </a:xfrm>
          <a:prstGeom prst="roundRect">
            <a:avLst>
              <a:gd name="adj" fmla="val 20000"/>
            </a:avLst>
          </a:prstGeom>
          <a:solidFill>
            <a:srgbClr val="EEEAFE"/>
          </a:solidFill>
          <a:ln w="12700">
            <a:solidFill>
              <a:srgbClr val="EEEAF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81728" y="213055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kern="0" spc="20" dirty="0">
                <a:solidFill>
                  <a:srgbClr val="7769D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SIMULATED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4608576" y="257860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Live operating plane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608576" y="3035808"/>
            <a:ext cx="2889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7769D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 trucks  ·  3 terminals</a:t>
            </a:r>
            <a:endParaRPr lang="en-US" sz="1220" dirty="0"/>
          </a:p>
        </p:txBody>
      </p:sp>
      <p:sp>
        <p:nvSpPr>
          <p:cNvPr id="29" name="Shape 27"/>
          <p:cNvSpPr/>
          <p:nvPr/>
        </p:nvSpPr>
        <p:spPr>
          <a:xfrm>
            <a:off x="4626864" y="3703320"/>
            <a:ext cx="82296" cy="82296"/>
          </a:xfrm>
          <a:prstGeom prst="ellipse">
            <a:avLst/>
          </a:prstGeom>
          <a:solidFill>
            <a:srgbClr val="7769D4"/>
          </a:solidFill>
          <a:ln w="12700">
            <a:solidFill>
              <a:srgbClr val="7769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602736"/>
            <a:ext cx="26883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Dallas / Houston / Oklahoma City carve-out</a:t>
            </a:r>
            <a:endParaRPr lang="en-US" sz="1040" dirty="0"/>
          </a:p>
        </p:txBody>
      </p:sp>
      <p:sp>
        <p:nvSpPr>
          <p:cNvPr id="31" name="Shape 29"/>
          <p:cNvSpPr/>
          <p:nvPr/>
        </p:nvSpPr>
        <p:spPr>
          <a:xfrm>
            <a:off x="4626864" y="4114800"/>
            <a:ext cx="82296" cy="82296"/>
          </a:xfrm>
          <a:prstGeom prst="ellipse">
            <a:avLst/>
          </a:prstGeom>
          <a:solidFill>
            <a:srgbClr val="7769D4"/>
          </a:solidFill>
          <a:ln w="12700">
            <a:solidFill>
              <a:srgbClr val="7769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91456" y="4014216"/>
            <a:ext cx="26883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GPS movement on OSRM road geometry</a:t>
            </a:r>
            <a:endParaRPr lang="en-US" sz="1040" dirty="0"/>
          </a:p>
        </p:txBody>
      </p:sp>
      <p:sp>
        <p:nvSpPr>
          <p:cNvPr id="33" name="Shape 31"/>
          <p:cNvSpPr/>
          <p:nvPr/>
        </p:nvSpPr>
        <p:spPr>
          <a:xfrm>
            <a:off x="4626864" y="4526280"/>
            <a:ext cx="82296" cy="82296"/>
          </a:xfrm>
          <a:prstGeom prst="ellipse">
            <a:avLst/>
          </a:prstGeom>
          <a:solidFill>
            <a:srgbClr val="7769D4"/>
          </a:solidFill>
          <a:ln w="12700">
            <a:solidFill>
              <a:srgbClr val="7769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91456" y="4425696"/>
            <a:ext cx="26883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FMCSA-style HOS clocks and rest stops</a:t>
            </a:r>
            <a:endParaRPr lang="en-US" sz="1040" dirty="0"/>
          </a:p>
        </p:txBody>
      </p:sp>
      <p:sp>
        <p:nvSpPr>
          <p:cNvPr id="35" name="Shape 33"/>
          <p:cNvSpPr/>
          <p:nvPr/>
        </p:nvSpPr>
        <p:spPr>
          <a:xfrm>
            <a:off x="4626864" y="4937760"/>
            <a:ext cx="82296" cy="82296"/>
          </a:xfrm>
          <a:prstGeom prst="ellipse">
            <a:avLst/>
          </a:prstGeom>
          <a:solidFill>
            <a:srgbClr val="7769D4"/>
          </a:solidFill>
          <a:ln w="12700">
            <a:solidFill>
              <a:srgbClr val="7769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91456" y="4837176"/>
            <a:ext cx="26883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Faults alter telemetry; watchdogs earn detection</a:t>
            </a:r>
            <a:endParaRPr lang="en-US" sz="1040" dirty="0"/>
          </a:p>
        </p:txBody>
      </p:sp>
      <p:sp>
        <p:nvSpPr>
          <p:cNvPr id="37" name="Shape 35"/>
          <p:cNvSpPr/>
          <p:nvPr/>
        </p:nvSpPr>
        <p:spPr>
          <a:xfrm>
            <a:off x="4608576" y="5330952"/>
            <a:ext cx="2926080" cy="0"/>
          </a:xfrm>
          <a:prstGeom prst="line">
            <a:avLst/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08576" y="5468112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C6C7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Answers: What is happening right now?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174736" y="1874520"/>
            <a:ext cx="3346704" cy="3950208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375904" y="2075688"/>
            <a:ext cx="1024128" cy="274320"/>
          </a:xfrm>
          <a:prstGeom prst="roundRect">
            <a:avLst>
              <a:gd name="adj" fmla="val 20000"/>
            </a:avLst>
          </a:prstGeom>
          <a:solidFill>
            <a:srgbClr val="E5F7EF"/>
          </a:solidFill>
          <a:ln w="12700">
            <a:solidFill>
              <a:srgbClr val="E5F7E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449056" y="213055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kern="0" spc="20" dirty="0">
                <a:solidFill>
                  <a:srgbClr val="39B98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GENERATED</a:t>
            </a:r>
            <a:endParaRPr lang="en-US" sz="880" dirty="0"/>
          </a:p>
        </p:txBody>
      </p:sp>
      <p:sp>
        <p:nvSpPr>
          <p:cNvPr id="42" name="Text 40"/>
          <p:cNvSpPr/>
          <p:nvPr/>
        </p:nvSpPr>
        <p:spPr>
          <a:xfrm>
            <a:off x="8375904" y="257860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 freight documents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8375904" y="3035808"/>
            <a:ext cx="2889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39B98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con  ·  BOL  ·  POD  ·  receipts</a:t>
            </a:r>
            <a:endParaRPr lang="en-US" sz="1220" dirty="0"/>
          </a:p>
        </p:txBody>
      </p:sp>
      <p:sp>
        <p:nvSpPr>
          <p:cNvPr id="44" name="Shape 42"/>
          <p:cNvSpPr/>
          <p:nvPr/>
        </p:nvSpPr>
        <p:spPr>
          <a:xfrm>
            <a:off x="8394192" y="3703320"/>
            <a:ext cx="82296" cy="82296"/>
          </a:xfrm>
          <a:prstGeom prst="ellipse">
            <a:avLst/>
          </a:prstGeom>
          <a:solidFill>
            <a:srgbClr val="39B980"/>
          </a:solidFill>
          <a:ln w="12700">
            <a:solidFill>
              <a:srgbClr val="39B98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58784" y="3602736"/>
            <a:ext cx="26883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Created deterministically at seed time</a:t>
            </a:r>
            <a:endParaRPr lang="en-US" sz="1040" dirty="0"/>
          </a:p>
        </p:txBody>
      </p:sp>
      <p:sp>
        <p:nvSpPr>
          <p:cNvPr id="46" name="Shape 44"/>
          <p:cNvSpPr/>
          <p:nvPr/>
        </p:nvSpPr>
        <p:spPr>
          <a:xfrm>
            <a:off x="8394192" y="4114800"/>
            <a:ext cx="82296" cy="82296"/>
          </a:xfrm>
          <a:prstGeom prst="ellipse">
            <a:avLst/>
          </a:prstGeom>
          <a:solidFill>
            <a:srgbClr val="39B980"/>
          </a:solidFill>
          <a:ln w="12700">
            <a:solidFill>
              <a:srgbClr val="39B98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558784" y="4014216"/>
            <a:ext cx="26883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packets contain known discrepancies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394192" y="4526280"/>
            <a:ext cx="82296" cy="82296"/>
          </a:xfrm>
          <a:prstGeom prst="ellipse">
            <a:avLst/>
          </a:prstGeom>
          <a:solidFill>
            <a:srgbClr val="39B980"/>
          </a:solidFill>
          <a:ln w="12700">
            <a:solidFill>
              <a:srgbClr val="39B98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558784" y="4425696"/>
            <a:ext cx="26883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Answer-key truth is hidden from the agent</a:t>
            </a:r>
            <a:endParaRPr lang="en-US" sz="1040" dirty="0"/>
          </a:p>
        </p:txBody>
      </p:sp>
      <p:sp>
        <p:nvSpPr>
          <p:cNvPr id="50" name="Shape 48"/>
          <p:cNvSpPr/>
          <p:nvPr/>
        </p:nvSpPr>
        <p:spPr>
          <a:xfrm>
            <a:off x="8394192" y="4937760"/>
            <a:ext cx="82296" cy="82296"/>
          </a:xfrm>
          <a:prstGeom prst="ellipse">
            <a:avLst/>
          </a:prstGeom>
          <a:solidFill>
            <a:srgbClr val="39B980"/>
          </a:solidFill>
          <a:ln w="12700">
            <a:solidFill>
              <a:srgbClr val="39B98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558784" y="4837176"/>
            <a:ext cx="26883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Vision must read the actual PDFs</a:t>
            </a:r>
            <a:endParaRPr lang="en-US" sz="1040" dirty="0"/>
          </a:p>
        </p:txBody>
      </p:sp>
      <p:sp>
        <p:nvSpPr>
          <p:cNvPr id="52" name="Shape 50"/>
          <p:cNvSpPr/>
          <p:nvPr/>
        </p:nvSpPr>
        <p:spPr>
          <a:xfrm>
            <a:off x="8375904" y="5330952"/>
            <a:ext cx="2926080" cy="0"/>
          </a:xfrm>
          <a:prstGeom prst="line">
            <a:avLst/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375904" y="5468112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C6C7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Answers: Can the workflow audit paperwork?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640080" y="5998464"/>
            <a:ext cx="10881360" cy="347472"/>
          </a:xfrm>
          <a:prstGeom prst="roundRect">
            <a:avLst>
              <a:gd name="adj" fmla="val 15789"/>
            </a:avLst>
          </a:prstGeom>
          <a:solidFill>
            <a:srgbClr val="101722"/>
          </a:solidFill>
          <a:ln w="12700">
            <a:solidFill>
              <a:srgbClr val="10172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22960" y="6099048"/>
            <a:ext cx="10515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Prototype: packets are pre-generated, so no upload is required. Production: ingest driver scans, email attachments, or TMS documents. The LLM itself is never mocked.</a:t>
            </a:r>
            <a:endParaRPr lang="en-US" sz="9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FLEET COPILOT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794760" y="6510528"/>
            <a:ext cx="4617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20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SYSTEM DESIGN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744200" y="649224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1323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 data planes feed one human-approved action layer.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40080" y="1426464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split keeps historical analytics real while making live behavior repeatable and testable.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40080" y="1874520"/>
            <a:ext cx="5212080" cy="2084832"/>
          </a:xfrm>
          <a:prstGeom prst="roundRect">
            <a:avLst>
              <a:gd name="adj" fmla="val 2632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" y="2066544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121408"/>
            <a:ext cx="1545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HISTORICAL PLANE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724912" y="2093976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6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has happened over 3 years?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859536" y="2578608"/>
            <a:ext cx="1024128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9536" y="2578608"/>
            <a:ext cx="54864" cy="694944"/>
          </a:xfrm>
          <a:prstGeom prst="rect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4128" y="2697480"/>
            <a:ext cx="731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 CSVs</a:t>
            </a:r>
            <a:endParaRPr lang="en-US" sz="1060" dirty="0"/>
          </a:p>
        </p:txBody>
      </p:sp>
      <p:sp>
        <p:nvSpPr>
          <p:cNvPr id="16" name="Text 14"/>
          <p:cNvSpPr/>
          <p:nvPr/>
        </p:nvSpPr>
        <p:spPr>
          <a:xfrm>
            <a:off x="1024128" y="29626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data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1901952" y="2679192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C9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2148840" y="2578608"/>
            <a:ext cx="1024128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48840" y="2578608"/>
            <a:ext cx="54864" cy="694944"/>
          </a:xfrm>
          <a:prstGeom prst="rect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13432" y="2697480"/>
            <a:ext cx="731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ETL</a:t>
            </a:r>
            <a:endParaRPr lang="en-US" sz="1060" dirty="0"/>
          </a:p>
        </p:txBody>
      </p:sp>
      <p:sp>
        <p:nvSpPr>
          <p:cNvPr id="21" name="Text 19"/>
          <p:cNvSpPr/>
          <p:nvPr/>
        </p:nvSpPr>
        <p:spPr>
          <a:xfrm>
            <a:off x="2313432" y="29626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derive + check</a:t>
            </a:r>
            <a:endParaRPr lang="en-US" sz="870" dirty="0"/>
          </a:p>
        </p:txBody>
      </p:sp>
      <p:sp>
        <p:nvSpPr>
          <p:cNvPr id="22" name="Text 20"/>
          <p:cNvSpPr/>
          <p:nvPr/>
        </p:nvSpPr>
        <p:spPr>
          <a:xfrm>
            <a:off x="3191256" y="2679192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C9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3438144" y="2578608"/>
            <a:ext cx="1024128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38144" y="2578608"/>
            <a:ext cx="54864" cy="694944"/>
          </a:xfrm>
          <a:prstGeom prst="rect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02736" y="2697480"/>
            <a:ext cx="731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SQLite</a:t>
            </a:r>
            <a:endParaRPr lang="en-US" sz="1060" dirty="0"/>
          </a:p>
        </p:txBody>
      </p:sp>
      <p:sp>
        <p:nvSpPr>
          <p:cNvPr id="26" name="Text 24"/>
          <p:cNvSpPr/>
          <p:nvPr/>
        </p:nvSpPr>
        <p:spPr>
          <a:xfrm>
            <a:off x="3602736" y="29626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warehouse</a:t>
            </a:r>
            <a:endParaRPr lang="en-US" sz="870" dirty="0"/>
          </a:p>
        </p:txBody>
      </p:sp>
      <p:sp>
        <p:nvSpPr>
          <p:cNvPr id="27" name="Text 25"/>
          <p:cNvSpPr/>
          <p:nvPr/>
        </p:nvSpPr>
        <p:spPr>
          <a:xfrm>
            <a:off x="4480560" y="2679192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C9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727448" y="2578608"/>
            <a:ext cx="905256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27448" y="2578608"/>
            <a:ext cx="54864" cy="694944"/>
          </a:xfrm>
          <a:prstGeom prst="rect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2697480"/>
            <a:ext cx="6126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KPIs</a:t>
            </a:r>
            <a:endParaRPr lang="en-US" sz="1060" dirty="0"/>
          </a:p>
        </p:txBody>
      </p:sp>
      <p:sp>
        <p:nvSpPr>
          <p:cNvPr id="31" name="Text 29"/>
          <p:cNvSpPr/>
          <p:nvPr/>
        </p:nvSpPr>
        <p:spPr>
          <a:xfrm>
            <a:off x="4892040" y="2962656"/>
            <a:ext cx="612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Fleet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859536" y="3493008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Analytics and scorer history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72200" y="1874520"/>
            <a:ext cx="5349240" cy="2084832"/>
          </a:xfrm>
          <a:prstGeom prst="roundRect">
            <a:avLst>
              <a:gd name="adj" fmla="val 2632"/>
            </a:avLst>
          </a:prstGeom>
          <a:solidFill>
            <a:srgbClr val="EEEAFE"/>
          </a:solidFill>
          <a:ln w="12700">
            <a:solidFill>
              <a:srgbClr val="EEEAF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1656" y="2066544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7769D4"/>
          </a:solidFill>
          <a:ln w="12700">
            <a:solidFill>
              <a:srgbClr val="7769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64808" y="2121408"/>
            <a:ext cx="1179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LIVE PLANE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909560" y="2093976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60" b="1" dirty="0">
                <a:solidFill>
                  <a:srgbClr val="7769D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happening right now?</a:t>
            </a:r>
            <a:endParaRPr lang="en-US" sz="960" dirty="0"/>
          </a:p>
        </p:txBody>
      </p:sp>
      <p:sp>
        <p:nvSpPr>
          <p:cNvPr id="37" name="Shape 35"/>
          <p:cNvSpPr/>
          <p:nvPr/>
        </p:nvSpPr>
        <p:spPr>
          <a:xfrm>
            <a:off x="6391656" y="2578608"/>
            <a:ext cx="1060704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91656" y="2578608"/>
            <a:ext cx="54864" cy="694944"/>
          </a:xfrm>
          <a:prstGeom prst="rect">
            <a:avLst/>
          </a:prstGeom>
          <a:solidFill>
            <a:srgbClr val="7769D4"/>
          </a:solidFill>
          <a:ln w="12700">
            <a:solidFill>
              <a:srgbClr val="7769D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56248" y="2697480"/>
            <a:ext cx="7680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World</a:t>
            </a:r>
            <a:endParaRPr lang="en-US" sz="1060" dirty="0"/>
          </a:p>
        </p:txBody>
      </p:sp>
      <p:sp>
        <p:nvSpPr>
          <p:cNvPr id="40" name="Text 38"/>
          <p:cNvSpPr/>
          <p:nvPr/>
        </p:nvSpPr>
        <p:spPr>
          <a:xfrm>
            <a:off x="6556248" y="2962656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fleet carve</a:t>
            </a:r>
            <a:endParaRPr lang="en-US" sz="870" dirty="0"/>
          </a:p>
        </p:txBody>
      </p:sp>
      <p:sp>
        <p:nvSpPr>
          <p:cNvPr id="41" name="Text 39"/>
          <p:cNvSpPr/>
          <p:nvPr/>
        </p:nvSpPr>
        <p:spPr>
          <a:xfrm>
            <a:off x="7470648" y="2679192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769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7717536" y="2578608"/>
            <a:ext cx="1060704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717536" y="2578608"/>
            <a:ext cx="54864" cy="694944"/>
          </a:xfrm>
          <a:prstGeom prst="rect">
            <a:avLst/>
          </a:prstGeom>
          <a:solidFill>
            <a:srgbClr val="7769D4"/>
          </a:solidFill>
          <a:ln w="12700">
            <a:solidFill>
              <a:srgbClr val="7769D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882128" y="2697480"/>
            <a:ext cx="7680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</a:t>
            </a:r>
            <a:endParaRPr lang="en-US" sz="1060" dirty="0"/>
          </a:p>
        </p:txBody>
      </p:sp>
      <p:sp>
        <p:nvSpPr>
          <p:cNvPr id="45" name="Text 43"/>
          <p:cNvSpPr/>
          <p:nvPr/>
        </p:nvSpPr>
        <p:spPr>
          <a:xfrm>
            <a:off x="7882128" y="2962656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clock + mover</a:t>
            </a:r>
            <a:endParaRPr lang="en-US" sz="870" dirty="0"/>
          </a:p>
        </p:txBody>
      </p:sp>
      <p:sp>
        <p:nvSpPr>
          <p:cNvPr id="46" name="Text 44"/>
          <p:cNvSpPr/>
          <p:nvPr/>
        </p:nvSpPr>
        <p:spPr>
          <a:xfrm>
            <a:off x="8796528" y="2679192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769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</a:t>
            </a:r>
            <a:endParaRPr lang="en-US" sz="2000" dirty="0"/>
          </a:p>
        </p:txBody>
      </p:sp>
      <p:sp>
        <p:nvSpPr>
          <p:cNvPr id="47" name="Shape 45"/>
          <p:cNvSpPr/>
          <p:nvPr/>
        </p:nvSpPr>
        <p:spPr>
          <a:xfrm>
            <a:off x="9043416" y="2578608"/>
            <a:ext cx="1060704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043416" y="2578608"/>
            <a:ext cx="54864" cy="694944"/>
          </a:xfrm>
          <a:prstGeom prst="rect">
            <a:avLst/>
          </a:prstGeom>
          <a:solidFill>
            <a:srgbClr val="7769D4"/>
          </a:solidFill>
          <a:ln w="12700">
            <a:solidFill>
              <a:srgbClr val="7769D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208008" y="2697480"/>
            <a:ext cx="7680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Watch</a:t>
            </a:r>
            <a:endParaRPr lang="en-US" sz="1060" dirty="0"/>
          </a:p>
        </p:txBody>
      </p:sp>
      <p:sp>
        <p:nvSpPr>
          <p:cNvPr id="50" name="Text 48"/>
          <p:cNvSpPr/>
          <p:nvPr/>
        </p:nvSpPr>
        <p:spPr>
          <a:xfrm>
            <a:off x="9208008" y="2962656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machines</a:t>
            </a:r>
            <a:endParaRPr lang="en-US" sz="870" dirty="0"/>
          </a:p>
        </p:txBody>
      </p:sp>
      <p:sp>
        <p:nvSpPr>
          <p:cNvPr id="51" name="Text 49"/>
          <p:cNvSpPr/>
          <p:nvPr/>
        </p:nvSpPr>
        <p:spPr>
          <a:xfrm>
            <a:off x="10122408" y="2679192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769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10369296" y="2578608"/>
            <a:ext cx="932688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69296" y="2578608"/>
            <a:ext cx="54864" cy="694944"/>
          </a:xfrm>
          <a:prstGeom prst="rect">
            <a:avLst/>
          </a:prstGeom>
          <a:solidFill>
            <a:srgbClr val="7769D4"/>
          </a:solidFill>
          <a:ln w="12700">
            <a:solidFill>
              <a:srgbClr val="7769D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533888" y="269748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SSE</a:t>
            </a:r>
            <a:endParaRPr lang="en-US" sz="1060" dirty="0"/>
          </a:p>
        </p:txBody>
      </p:sp>
      <p:sp>
        <p:nvSpPr>
          <p:cNvPr id="55" name="Text 53"/>
          <p:cNvSpPr/>
          <p:nvPr/>
        </p:nvSpPr>
        <p:spPr>
          <a:xfrm>
            <a:off x="10533888" y="296265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UI</a:t>
            </a:r>
            <a:endParaRPr lang="en-US" sz="870" dirty="0"/>
          </a:p>
        </p:txBody>
      </p:sp>
      <p:sp>
        <p:nvSpPr>
          <p:cNvPr id="56" name="Text 54"/>
          <p:cNvSpPr/>
          <p:nvPr/>
        </p:nvSpPr>
        <p:spPr>
          <a:xfrm>
            <a:off x="6391656" y="3493008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Positions, HOS, exceptions, and UI state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40080" y="4343400"/>
            <a:ext cx="10881360" cy="1499616"/>
          </a:xfrm>
          <a:prstGeom prst="roundRect">
            <a:avLst>
              <a:gd name="adj" fmla="val 3659"/>
            </a:avLst>
          </a:prstGeom>
          <a:solidFill>
            <a:srgbClr val="101722"/>
          </a:solidFill>
          <a:ln w="12700">
            <a:solidFill>
              <a:srgbClr val="10172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96112" y="455371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kern="0" spc="120" dirty="0">
                <a:solidFill>
                  <a:srgbClr val="39B98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ACTION LAYER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896112" y="4919472"/>
            <a:ext cx="2240280" cy="621792"/>
          </a:xfrm>
          <a:prstGeom prst="roundRect">
            <a:avLst>
              <a:gd name="adj" fmla="val 8824"/>
            </a:avLst>
          </a:prstGeom>
          <a:solidFill>
            <a:srgbClr val="1C2938"/>
          </a:solidFill>
          <a:ln w="12700">
            <a:solidFill>
              <a:srgbClr val="41516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04748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READ-ONLY TOOLS</a:t>
            </a:r>
            <a:endParaRPr lang="en-US" sz="940" dirty="0"/>
          </a:p>
        </p:txBody>
      </p:sp>
      <p:sp>
        <p:nvSpPr>
          <p:cNvPr id="61" name="Text 59"/>
          <p:cNvSpPr/>
          <p:nvPr/>
        </p:nvSpPr>
        <p:spPr>
          <a:xfrm>
            <a:off x="1005840" y="5285232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A7B6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fleet facts + Vision</a:t>
            </a:r>
            <a:endParaRPr lang="en-US" sz="820" dirty="0"/>
          </a:p>
        </p:txBody>
      </p:sp>
      <p:sp>
        <p:nvSpPr>
          <p:cNvPr id="62" name="Text 60"/>
          <p:cNvSpPr/>
          <p:nvPr/>
        </p:nvSpPr>
        <p:spPr>
          <a:xfrm>
            <a:off x="3172968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C9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</a:t>
            </a:r>
            <a:endParaRPr lang="en-US" sz="2200" dirty="0"/>
          </a:p>
        </p:txBody>
      </p:sp>
      <p:sp>
        <p:nvSpPr>
          <p:cNvPr id="63" name="Shape 61"/>
          <p:cNvSpPr/>
          <p:nvPr/>
        </p:nvSpPr>
        <p:spPr>
          <a:xfrm>
            <a:off x="3566160" y="4919472"/>
            <a:ext cx="2240280" cy="621792"/>
          </a:xfrm>
          <a:prstGeom prst="roundRect">
            <a:avLst>
              <a:gd name="adj" fmla="val 8824"/>
            </a:avLst>
          </a:prstGeom>
          <a:solidFill>
            <a:srgbClr val="1C2938"/>
          </a:solidFill>
          <a:ln w="12700">
            <a:solidFill>
              <a:srgbClr val="41516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75888" y="504748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GEMINI AGENT</a:t>
            </a:r>
            <a:endParaRPr lang="en-US" sz="940" dirty="0"/>
          </a:p>
        </p:txBody>
      </p:sp>
      <p:sp>
        <p:nvSpPr>
          <p:cNvPr id="65" name="Text 63"/>
          <p:cNvSpPr/>
          <p:nvPr/>
        </p:nvSpPr>
        <p:spPr>
          <a:xfrm>
            <a:off x="3675888" y="5285232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A7B6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investigate + draft</a:t>
            </a:r>
            <a:endParaRPr lang="en-US" sz="820" dirty="0"/>
          </a:p>
        </p:txBody>
      </p:sp>
      <p:sp>
        <p:nvSpPr>
          <p:cNvPr id="66" name="Text 64"/>
          <p:cNvSpPr/>
          <p:nvPr/>
        </p:nvSpPr>
        <p:spPr>
          <a:xfrm>
            <a:off x="5843016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C9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</a:t>
            </a:r>
            <a:endParaRPr lang="en-US" sz="2200" dirty="0"/>
          </a:p>
        </p:txBody>
      </p:sp>
      <p:sp>
        <p:nvSpPr>
          <p:cNvPr id="67" name="Shape 65"/>
          <p:cNvSpPr/>
          <p:nvPr/>
        </p:nvSpPr>
        <p:spPr>
          <a:xfrm>
            <a:off x="6236208" y="4919472"/>
            <a:ext cx="2240280" cy="621792"/>
          </a:xfrm>
          <a:prstGeom prst="roundRect">
            <a:avLst>
              <a:gd name="adj" fmla="val 8824"/>
            </a:avLst>
          </a:prstGeom>
          <a:solidFill>
            <a:srgbClr val="39B980"/>
          </a:solidFill>
          <a:ln w="12700">
            <a:solidFill>
              <a:srgbClr val="39B98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345936" y="504748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10172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PENDING ACTION</a:t>
            </a:r>
            <a:endParaRPr lang="en-US" sz="940" dirty="0"/>
          </a:p>
        </p:txBody>
      </p:sp>
      <p:sp>
        <p:nvSpPr>
          <p:cNvPr id="69" name="Text 67"/>
          <p:cNvSpPr/>
          <p:nvPr/>
        </p:nvSpPr>
        <p:spPr>
          <a:xfrm>
            <a:off x="6345936" y="5285232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1951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+ impact</a:t>
            </a:r>
            <a:endParaRPr lang="en-US" sz="820" dirty="0"/>
          </a:p>
        </p:txBody>
      </p:sp>
      <p:sp>
        <p:nvSpPr>
          <p:cNvPr id="70" name="Text 68"/>
          <p:cNvSpPr/>
          <p:nvPr/>
        </p:nvSpPr>
        <p:spPr>
          <a:xfrm>
            <a:off x="8513064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C9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</a:t>
            </a:r>
            <a:endParaRPr lang="en-US" sz="2200" dirty="0"/>
          </a:p>
        </p:txBody>
      </p:sp>
      <p:sp>
        <p:nvSpPr>
          <p:cNvPr id="71" name="Shape 69"/>
          <p:cNvSpPr/>
          <p:nvPr/>
        </p:nvSpPr>
        <p:spPr>
          <a:xfrm>
            <a:off x="8906256" y="4919472"/>
            <a:ext cx="2240280" cy="621792"/>
          </a:xfrm>
          <a:prstGeom prst="roundRect">
            <a:avLst>
              <a:gd name="adj" fmla="val 8824"/>
            </a:avLst>
          </a:prstGeom>
          <a:solidFill>
            <a:srgbClr val="1C2938"/>
          </a:solidFill>
          <a:ln w="12700">
            <a:solidFill>
              <a:srgbClr val="41516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015984" y="504748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HUMAN + EXECUTOR</a:t>
            </a:r>
            <a:endParaRPr lang="en-US" sz="940" dirty="0"/>
          </a:p>
        </p:txBody>
      </p:sp>
      <p:sp>
        <p:nvSpPr>
          <p:cNvPr id="73" name="Text 71"/>
          <p:cNvSpPr/>
          <p:nvPr/>
        </p:nvSpPr>
        <p:spPr>
          <a:xfrm>
            <a:off x="9015984" y="5285232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dirty="0">
                <a:solidFill>
                  <a:srgbClr val="A7B6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+ update state</a:t>
            </a:r>
            <a:endParaRPr lang="en-US" sz="820" dirty="0"/>
          </a:p>
        </p:txBody>
      </p:sp>
      <p:sp>
        <p:nvSpPr>
          <p:cNvPr id="74" name="Text 72"/>
          <p:cNvSpPr/>
          <p:nvPr/>
        </p:nvSpPr>
        <p:spPr>
          <a:xfrm>
            <a:off x="640080" y="6071616"/>
            <a:ext cx="10881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40" i="1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action model powers dispatch recommendations, exception triage, safety coaching, cost Q&amp;A, and billing review.</a:t>
            </a:r>
            <a:endParaRPr lang="en-US" sz="10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FLEET COPILOT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794760" y="6510528"/>
            <a:ext cx="4617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20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INTERVIEW DEMO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744200" y="649224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 FLOW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1323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7-minute walkthrough tells one connected story.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40080" y="1426464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goal is not to visit six pages—it is to show detect → decide → act → learn → collect.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40080" y="1901952"/>
            <a:ext cx="3529584" cy="1609344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06654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389888" y="2084832"/>
            <a:ext cx="2542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Operations  ·  1:15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2478024"/>
            <a:ext cx="3145536" cy="0"/>
          </a:xfrm>
          <a:prstGeom prst="line">
            <a:avLst/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65176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a trip and verify its route highlights. Let a watchdog surface an exception; open Agent Trace.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89120" y="1901952"/>
            <a:ext cx="3529584" cy="1609344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206654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138928" y="2084832"/>
            <a:ext cx="2542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Action Queue  ·  0:45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0" y="2478024"/>
            <a:ext cx="3145536" cy="0"/>
          </a:xfrm>
          <a:prstGeom prst="line">
            <a:avLst/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265176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evidence and impact, edit the drafted SMS, approve it, then confirm it on Driver phone.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38160" y="1901952"/>
            <a:ext cx="3529584" cy="1609344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0" y="206654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887968" y="2084832"/>
            <a:ext cx="2542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Dispatch  ·  1:15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321040" y="2478024"/>
            <a:ext cx="3145536" cy="0"/>
          </a:xfrm>
          <a:prstGeom prst="line">
            <a:avLst/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21040" y="265176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an unassigned load, compare drivers, ask the agent, approve, and see the new trip enter live operations.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3776472"/>
            <a:ext cx="3529584" cy="1609344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394106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389888" y="3959352"/>
            <a:ext cx="2542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Cost  ·  1:00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22960" y="4352544"/>
            <a:ext cx="3145536" cy="0"/>
          </a:xfrm>
          <a:prstGeom prst="line">
            <a:avLst/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52628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“Which customers cause the most detention?” and inspect the guarded SQL plus chart-ready answer.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389120" y="3776472"/>
            <a:ext cx="3529584" cy="1609344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0" y="394106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138928" y="3959352"/>
            <a:ext cx="2542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Safety  ·  0:45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572000" y="4352544"/>
            <a:ext cx="3145536" cy="0"/>
          </a:xfrm>
          <a:prstGeom prst="line">
            <a:avLst/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0" y="452628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an at-risk driver and generate a coaching brief grounded in computed HOS and risk facts.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138160" y="3776472"/>
            <a:ext cx="3529584" cy="1609344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21040" y="394106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9B98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8887968" y="3959352"/>
            <a:ext cx="2542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Billing  ·  1:30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321040" y="4352544"/>
            <a:ext cx="3145536" cy="0"/>
          </a:xfrm>
          <a:prstGeom prst="line">
            <a:avLst/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21040" y="452628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a packet, surface $142.50 in unclaimed detention, and approve the corrected invoice.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5779008"/>
            <a:ext cx="10881360" cy="512064"/>
          </a:xfrm>
          <a:prstGeom prst="roundRect">
            <a:avLst>
              <a:gd name="adj" fmla="val 10714"/>
            </a:avLst>
          </a:prstGeom>
          <a:solidFill>
            <a:srgbClr val="101722"/>
          </a:solidFill>
          <a:ln w="12700">
            <a:solidFill>
              <a:srgbClr val="10172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" y="5952744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b="1" kern="0" spc="10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TO NOTICE</a:t>
            </a:r>
            <a:endParaRPr lang="en-US" sz="870" dirty="0"/>
          </a:p>
        </p:txBody>
      </p:sp>
      <p:sp>
        <p:nvSpPr>
          <p:cNvPr id="41" name="Text 39"/>
          <p:cNvSpPr/>
          <p:nvPr/>
        </p:nvSpPr>
        <p:spPr>
          <a:xfrm>
            <a:off x="3182112" y="5916168"/>
            <a:ext cx="8065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7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route, alert, proposal, approval, driver message, new trip, analytics, and invoice all share state—this is one product, not six mockups.</a:t>
            </a:r>
            <a:endParaRPr lang="en-US" sz="97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FLEET COPILOT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794760" y="6510528"/>
            <a:ext cx="4617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20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TRADEOFFS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744200" y="649224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 TRADED OFF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1323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 optimized for the product risk—not integration breadth.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40080" y="1426464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prototype proves the decision loop deeply and labels what a production pilot still needs.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40080" y="1856232"/>
            <a:ext cx="10881360" cy="420624"/>
          </a:xfrm>
          <a:prstGeom prst="roundRect">
            <a:avLst>
              <a:gd name="adj" fmla="val 13043"/>
            </a:avLst>
          </a:prstGeom>
          <a:solidFill>
            <a:srgbClr val="101722"/>
          </a:solidFill>
          <a:ln w="12700">
            <a:solidFill>
              <a:srgbClr val="1017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99339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PROTOTYPE CHOICE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383280" y="1993392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I CHOSE IT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114032" y="1993392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PILOT-READY NEXT STEP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0080" y="2340864"/>
            <a:ext cx="1088136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2478024"/>
            <a:ext cx="23042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Simulated GPS and HOS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3383280" y="2432304"/>
            <a:ext cx="33284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1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source dataset has neither; replay makes live exceptions testable.</a:t>
            </a:r>
            <a:endParaRPr lang="en-US" sz="1010" dirty="0"/>
          </a:p>
        </p:txBody>
      </p:sp>
      <p:sp>
        <p:nvSpPr>
          <p:cNvPr id="16" name="Text 14"/>
          <p:cNvSpPr/>
          <p:nvPr/>
        </p:nvSpPr>
        <p:spPr>
          <a:xfrm>
            <a:off x="7114032" y="2432304"/>
            <a:ext cx="4023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1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Trucker Path ELD / Command telemetry.</a:t>
            </a:r>
            <a:endParaRPr lang="en-US" sz="1010" dirty="0"/>
          </a:p>
        </p:txBody>
      </p:sp>
      <p:sp>
        <p:nvSpPr>
          <p:cNvPr id="17" name="Shape 15"/>
          <p:cNvSpPr/>
          <p:nvPr/>
        </p:nvSpPr>
        <p:spPr>
          <a:xfrm>
            <a:off x="640080" y="3017520"/>
            <a:ext cx="10881360" cy="612648"/>
          </a:xfrm>
          <a:prstGeom prst="rect">
            <a:avLst/>
          </a:prstGeom>
          <a:solidFill>
            <a:srgbClr val="F9FAFC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154680"/>
            <a:ext cx="23042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Generated packets; no upload</a:t>
            </a:r>
            <a:endParaRPr lang="en-US" sz="1080" dirty="0"/>
          </a:p>
        </p:txBody>
      </p:sp>
      <p:sp>
        <p:nvSpPr>
          <p:cNvPr id="19" name="Text 17"/>
          <p:cNvSpPr/>
          <p:nvPr/>
        </p:nvSpPr>
        <p:spPr>
          <a:xfrm>
            <a:off x="3383280" y="3108960"/>
            <a:ext cx="33284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1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Proves Vision and reconciliation without building commodity ingest UI.</a:t>
            </a:r>
            <a:endParaRPr lang="en-US" sz="1010" dirty="0"/>
          </a:p>
        </p:txBody>
      </p:sp>
      <p:sp>
        <p:nvSpPr>
          <p:cNvPr id="20" name="Text 18"/>
          <p:cNvSpPr/>
          <p:nvPr/>
        </p:nvSpPr>
        <p:spPr>
          <a:xfrm>
            <a:off x="7114032" y="3108960"/>
            <a:ext cx="4023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1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driver scan, email, and TMS document ingestion.</a:t>
            </a:r>
            <a:endParaRPr lang="en-US" sz="1010" dirty="0"/>
          </a:p>
        </p:txBody>
      </p:sp>
      <p:sp>
        <p:nvSpPr>
          <p:cNvPr id="21" name="Shape 19"/>
          <p:cNvSpPr/>
          <p:nvPr/>
        </p:nvSpPr>
        <p:spPr>
          <a:xfrm>
            <a:off x="640080" y="3694176"/>
            <a:ext cx="1088136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" y="3831336"/>
            <a:ext cx="23042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fleet + SQLite</a:t>
            </a:r>
            <a:endParaRPr lang="en-US" sz="1080" dirty="0"/>
          </a:p>
        </p:txBody>
      </p:sp>
      <p:sp>
        <p:nvSpPr>
          <p:cNvPr id="23" name="Text 21"/>
          <p:cNvSpPr/>
          <p:nvPr/>
        </p:nvSpPr>
        <p:spPr>
          <a:xfrm>
            <a:off x="3383280" y="3785616"/>
            <a:ext cx="33284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1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Keeps focus on the action loop and makes reset deterministic.</a:t>
            </a:r>
            <a:endParaRPr lang="en-US" sz="1010" dirty="0"/>
          </a:p>
        </p:txBody>
      </p:sp>
      <p:sp>
        <p:nvSpPr>
          <p:cNvPr id="24" name="Text 22"/>
          <p:cNvSpPr/>
          <p:nvPr/>
        </p:nvSpPr>
        <p:spPr>
          <a:xfrm>
            <a:off x="7114032" y="3785616"/>
            <a:ext cx="4023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1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tenancy, RBAC, Postgres, durable jobs, and backups.</a:t>
            </a:r>
            <a:endParaRPr lang="en-US" sz="1010" dirty="0"/>
          </a:p>
        </p:txBody>
      </p:sp>
      <p:sp>
        <p:nvSpPr>
          <p:cNvPr id="25" name="Shape 23"/>
          <p:cNvSpPr/>
          <p:nvPr/>
        </p:nvSpPr>
        <p:spPr>
          <a:xfrm>
            <a:off x="640080" y="4370832"/>
            <a:ext cx="10881360" cy="612648"/>
          </a:xfrm>
          <a:prstGeom prst="rect">
            <a:avLst/>
          </a:prstGeom>
          <a:solidFill>
            <a:srgbClr val="F9FAFC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1248" y="4507992"/>
            <a:ext cx="23042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External sends are simulated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3383280" y="4462272"/>
            <a:ext cx="33284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1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Avoids contacting real drivers or customers during a demo.</a:t>
            </a:r>
            <a:endParaRPr lang="en-US" sz="1010" dirty="0"/>
          </a:p>
        </p:txBody>
      </p:sp>
      <p:sp>
        <p:nvSpPr>
          <p:cNvPr id="28" name="Text 26"/>
          <p:cNvSpPr/>
          <p:nvPr/>
        </p:nvSpPr>
        <p:spPr>
          <a:xfrm>
            <a:off x="7114032" y="4462272"/>
            <a:ext cx="4023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1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Integrate SMS/email providers with idempotency, audit, and undo.</a:t>
            </a:r>
            <a:endParaRPr lang="en-US" sz="1010" dirty="0"/>
          </a:p>
        </p:txBody>
      </p:sp>
      <p:sp>
        <p:nvSpPr>
          <p:cNvPr id="29" name="Shape 27"/>
          <p:cNvSpPr/>
          <p:nvPr/>
        </p:nvSpPr>
        <p:spPr>
          <a:xfrm>
            <a:off x="640080" y="5047488"/>
            <a:ext cx="1088136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5184648"/>
            <a:ext cx="23042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Free-tier Gemini quotas</a:t>
            </a:r>
            <a:endParaRPr lang="en-US" sz="1080" dirty="0"/>
          </a:p>
        </p:txBody>
      </p:sp>
      <p:sp>
        <p:nvSpPr>
          <p:cNvPr id="31" name="Text 29"/>
          <p:cNvSpPr/>
          <p:nvPr/>
        </p:nvSpPr>
        <p:spPr>
          <a:xfrm>
            <a:off x="3383280" y="5138928"/>
            <a:ext cx="33284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1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Enough to prove real calls, tracing, and fallback behavior.</a:t>
            </a:r>
            <a:endParaRPr lang="en-US" sz="1010" dirty="0"/>
          </a:p>
        </p:txBody>
      </p:sp>
      <p:sp>
        <p:nvSpPr>
          <p:cNvPr id="32" name="Text 30"/>
          <p:cNvSpPr/>
          <p:nvPr/>
        </p:nvSpPr>
        <p:spPr>
          <a:xfrm>
            <a:off x="7114032" y="5138928"/>
            <a:ext cx="4023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1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production quota/SLA, retries, evals, and model routing.</a:t>
            </a:r>
            <a:endParaRPr lang="en-US" sz="1010" dirty="0"/>
          </a:p>
        </p:txBody>
      </p:sp>
      <p:sp>
        <p:nvSpPr>
          <p:cNvPr id="33" name="Shape 31"/>
          <p:cNvSpPr/>
          <p:nvPr/>
        </p:nvSpPr>
        <p:spPr>
          <a:xfrm>
            <a:off x="640080" y="5852160"/>
            <a:ext cx="10881360" cy="420624"/>
          </a:xfrm>
          <a:prstGeom prst="roundRect">
            <a:avLst>
              <a:gd name="adj" fmla="val 13043"/>
            </a:avLst>
          </a:prstGeom>
          <a:solidFill>
            <a:srgbClr val="E5F7EF"/>
          </a:solidFill>
          <a:ln w="12700">
            <a:solidFill>
              <a:srgbClr val="E5F7E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9536" y="598932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b="1" kern="0" spc="100" dirty="0">
                <a:solidFill>
                  <a:srgbClr val="39B98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 DID NOT TRADE OFF</a:t>
            </a:r>
            <a:endParaRPr lang="en-US" sz="870" dirty="0"/>
          </a:p>
        </p:txBody>
      </p:sp>
      <p:sp>
        <p:nvSpPr>
          <p:cNvPr id="35" name="Text 33"/>
          <p:cNvSpPr/>
          <p:nvPr/>
        </p:nvSpPr>
        <p:spPr>
          <a:xfrm>
            <a:off x="3017520" y="5952744"/>
            <a:ext cx="8183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Traceability  ·  deterministic HOS and money math  ·  human approval  ·  honest data labels</a:t>
            </a:r>
            <a:endParaRPr lang="en-US" sz="10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FLEET COPILOT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794760" y="6510528"/>
            <a:ext cx="4617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20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MEASURING SUCCESS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744200" y="649224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SUCCESS METRICS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1323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Measure verified outcomes and earned trust—not model activity.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40080" y="1426464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busy agent is not the goal. A dispatcher making faster, better decisions is.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40080" y="1847088"/>
            <a:ext cx="10881360" cy="841248"/>
          </a:xfrm>
          <a:prstGeom prst="roundRect">
            <a:avLst>
              <a:gd name="adj" fmla="val 6522"/>
            </a:avLst>
          </a:prstGeom>
          <a:solidFill>
            <a:srgbClr val="DCEEFF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03911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40" b="1" kern="0" spc="14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NORTH STAR</a:t>
            </a:r>
            <a:endParaRPr lang="en-US" sz="940" dirty="0"/>
          </a:p>
        </p:txBody>
      </p:sp>
      <p:sp>
        <p:nvSpPr>
          <p:cNvPr id="11" name="Text 9"/>
          <p:cNvSpPr/>
          <p:nvPr/>
        </p:nvSpPr>
        <p:spPr>
          <a:xfrm>
            <a:off x="2221992" y="1975104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Approved actions with a verified outcome per active truck per week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2221992" y="2313432"/>
            <a:ext cx="81381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Tie every proposal to dollars recovered, delay avoided, risk reduced, or dispatcher time saved.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640080" y="2926080"/>
            <a:ext cx="3346704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926080"/>
            <a:ext cx="64008" cy="2514600"/>
          </a:xfrm>
          <a:prstGeom prst="rect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081528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&amp; adoption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1248" y="3493008"/>
            <a:ext cx="294436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endParaRPr lang="en-US" sz="1110" dirty="0"/>
          </a:p>
        </p:txBody>
      </p:sp>
      <p:sp>
        <p:nvSpPr>
          <p:cNvPr id="17" name="Shape 15"/>
          <p:cNvSpPr/>
          <p:nvPr/>
        </p:nvSpPr>
        <p:spPr>
          <a:xfrm>
            <a:off x="877824" y="3758184"/>
            <a:ext cx="82296" cy="822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36576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to first approved action</a:t>
            </a:r>
            <a:endParaRPr lang="en-US" sz="1060" dirty="0"/>
          </a:p>
        </p:txBody>
      </p:sp>
      <p:sp>
        <p:nvSpPr>
          <p:cNvPr id="19" name="Shape 17"/>
          <p:cNvSpPr/>
          <p:nvPr/>
        </p:nvSpPr>
        <p:spPr>
          <a:xfrm>
            <a:off x="877824" y="4178808"/>
            <a:ext cx="82296" cy="822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" y="407822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Weekly active dispatcher / fleet</a:t>
            </a:r>
            <a:endParaRPr lang="en-US" sz="1060" dirty="0"/>
          </a:p>
        </p:txBody>
      </p:sp>
      <p:sp>
        <p:nvSpPr>
          <p:cNvPr id="21" name="Shape 19"/>
          <p:cNvSpPr/>
          <p:nvPr/>
        </p:nvSpPr>
        <p:spPr>
          <a:xfrm>
            <a:off x="877824" y="4599432"/>
            <a:ext cx="82296" cy="822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" y="449884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Actions reviewed per active truck</a:t>
            </a:r>
            <a:endParaRPr lang="en-US" sz="1060" dirty="0"/>
          </a:p>
        </p:txBody>
      </p:sp>
      <p:sp>
        <p:nvSpPr>
          <p:cNvPr id="23" name="Shape 21"/>
          <p:cNvSpPr/>
          <p:nvPr/>
        </p:nvSpPr>
        <p:spPr>
          <a:xfrm>
            <a:off x="877824" y="5020056"/>
            <a:ext cx="82296" cy="822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491947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Median time from alert to decision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4425696" y="2926080"/>
            <a:ext cx="3346704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25696" y="2926080"/>
            <a:ext cx="64008" cy="2514600"/>
          </a:xfrm>
          <a:prstGeom prst="rect">
            <a:avLst/>
          </a:prstGeom>
          <a:solidFill>
            <a:srgbClr val="39B980"/>
          </a:solidFill>
          <a:ln w="12700">
            <a:solidFill>
              <a:srgbClr val="39B9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26864" y="3081528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B98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outcomes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626864" y="3493008"/>
            <a:ext cx="294436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endParaRPr lang="en-US" sz="1110" dirty="0"/>
          </a:p>
        </p:txBody>
      </p:sp>
      <p:sp>
        <p:nvSpPr>
          <p:cNvPr id="29" name="Shape 27"/>
          <p:cNvSpPr/>
          <p:nvPr/>
        </p:nvSpPr>
        <p:spPr>
          <a:xfrm>
            <a:off x="4663440" y="3758184"/>
            <a:ext cx="82296" cy="82296"/>
          </a:xfrm>
          <a:prstGeom prst="ellipse">
            <a:avLst/>
          </a:prstGeom>
          <a:solidFill>
            <a:srgbClr val="39B980"/>
          </a:solidFill>
          <a:ln w="12700">
            <a:solidFill>
              <a:srgbClr val="39B98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28032" y="36576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Deadhead % of total miles</a:t>
            </a:r>
            <a:endParaRPr lang="en-US" sz="1060" dirty="0"/>
          </a:p>
        </p:txBody>
      </p:sp>
      <p:sp>
        <p:nvSpPr>
          <p:cNvPr id="31" name="Shape 29"/>
          <p:cNvSpPr/>
          <p:nvPr/>
        </p:nvSpPr>
        <p:spPr>
          <a:xfrm>
            <a:off x="4663440" y="4178808"/>
            <a:ext cx="82296" cy="82296"/>
          </a:xfrm>
          <a:prstGeom prst="ellipse">
            <a:avLst/>
          </a:prstGeom>
          <a:solidFill>
            <a:srgbClr val="39B980"/>
          </a:solidFill>
          <a:ln w="12700">
            <a:solidFill>
              <a:srgbClr val="39B9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28032" y="407822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Exceptions caught before customer call</a:t>
            </a:r>
            <a:endParaRPr lang="en-US" sz="1060" dirty="0"/>
          </a:p>
        </p:txBody>
      </p:sp>
      <p:sp>
        <p:nvSpPr>
          <p:cNvPr id="33" name="Shape 31"/>
          <p:cNvSpPr/>
          <p:nvPr/>
        </p:nvSpPr>
        <p:spPr>
          <a:xfrm>
            <a:off x="4663440" y="4599432"/>
            <a:ext cx="82296" cy="82296"/>
          </a:xfrm>
          <a:prstGeom prst="ellipse">
            <a:avLst/>
          </a:prstGeom>
          <a:solidFill>
            <a:srgbClr val="39B980"/>
          </a:solidFill>
          <a:ln w="12700">
            <a:solidFill>
              <a:srgbClr val="39B98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28032" y="449884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Delivery-to-invoice cycle time</a:t>
            </a:r>
            <a:endParaRPr lang="en-US" sz="1060" dirty="0"/>
          </a:p>
        </p:txBody>
      </p:sp>
      <p:sp>
        <p:nvSpPr>
          <p:cNvPr id="35" name="Shape 33"/>
          <p:cNvSpPr/>
          <p:nvPr/>
        </p:nvSpPr>
        <p:spPr>
          <a:xfrm>
            <a:off x="4663440" y="5020056"/>
            <a:ext cx="82296" cy="82296"/>
          </a:xfrm>
          <a:prstGeom prst="ellipse">
            <a:avLst/>
          </a:prstGeom>
          <a:solidFill>
            <a:srgbClr val="39B980"/>
          </a:solidFill>
          <a:ln w="12700">
            <a:solidFill>
              <a:srgbClr val="39B98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28032" y="491947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Detention dollars recovered / 100 loads</a:t>
            </a:r>
            <a:endParaRPr lang="en-US" sz="1060" dirty="0"/>
          </a:p>
        </p:txBody>
      </p:sp>
      <p:sp>
        <p:nvSpPr>
          <p:cNvPr id="37" name="Shape 35"/>
          <p:cNvSpPr/>
          <p:nvPr/>
        </p:nvSpPr>
        <p:spPr>
          <a:xfrm>
            <a:off x="8174736" y="2926080"/>
            <a:ext cx="3346704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174736" y="2926080"/>
            <a:ext cx="64008" cy="2514600"/>
          </a:xfrm>
          <a:prstGeom prst="rect">
            <a:avLst/>
          </a:prstGeom>
          <a:solidFill>
            <a:srgbClr val="7769D4"/>
          </a:solidFill>
          <a:ln w="12700">
            <a:solidFill>
              <a:srgbClr val="7769D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75904" y="3081528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769D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Trust &amp; safety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375904" y="3493008"/>
            <a:ext cx="294436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endParaRPr lang="en-US" sz="1110" dirty="0"/>
          </a:p>
        </p:txBody>
      </p:sp>
      <p:sp>
        <p:nvSpPr>
          <p:cNvPr id="41" name="Shape 39"/>
          <p:cNvSpPr/>
          <p:nvPr/>
        </p:nvSpPr>
        <p:spPr>
          <a:xfrm>
            <a:off x="8412480" y="3758184"/>
            <a:ext cx="82296" cy="82296"/>
          </a:xfrm>
          <a:prstGeom prst="ellipse">
            <a:avLst/>
          </a:prstGeom>
          <a:solidFill>
            <a:srgbClr val="7769D4"/>
          </a:solidFill>
          <a:ln w="12700">
            <a:solidFill>
              <a:srgbClr val="7769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577072" y="36576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Approval and dismissal rates</a:t>
            </a:r>
            <a:endParaRPr lang="en-US" sz="1060" dirty="0"/>
          </a:p>
        </p:txBody>
      </p:sp>
      <p:sp>
        <p:nvSpPr>
          <p:cNvPr id="43" name="Shape 41"/>
          <p:cNvSpPr/>
          <p:nvPr/>
        </p:nvSpPr>
        <p:spPr>
          <a:xfrm>
            <a:off x="8412480" y="4178808"/>
            <a:ext cx="82296" cy="82296"/>
          </a:xfrm>
          <a:prstGeom prst="ellipse">
            <a:avLst/>
          </a:prstGeom>
          <a:solidFill>
            <a:srgbClr val="7769D4"/>
          </a:solidFill>
          <a:ln w="12700">
            <a:solidFill>
              <a:srgbClr val="7769D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577072" y="407822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Edit-before-approve rate over time</a:t>
            </a:r>
            <a:endParaRPr lang="en-US" sz="1060" dirty="0"/>
          </a:p>
        </p:txBody>
      </p:sp>
      <p:sp>
        <p:nvSpPr>
          <p:cNvPr id="45" name="Shape 43"/>
          <p:cNvSpPr/>
          <p:nvPr/>
        </p:nvSpPr>
        <p:spPr>
          <a:xfrm>
            <a:off x="8412480" y="4599432"/>
            <a:ext cx="82296" cy="82296"/>
          </a:xfrm>
          <a:prstGeom prst="ellipse">
            <a:avLst/>
          </a:prstGeom>
          <a:solidFill>
            <a:srgbClr val="7769D4"/>
          </a:solidFill>
          <a:ln w="12700">
            <a:solidFill>
              <a:srgbClr val="7769D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577072" y="449884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False-positive / unsafe proposal rate</a:t>
            </a:r>
            <a:endParaRPr lang="en-US" sz="1060" dirty="0"/>
          </a:p>
        </p:txBody>
      </p:sp>
      <p:sp>
        <p:nvSpPr>
          <p:cNvPr id="47" name="Shape 45"/>
          <p:cNvSpPr/>
          <p:nvPr/>
        </p:nvSpPr>
        <p:spPr>
          <a:xfrm>
            <a:off x="8412480" y="5020056"/>
            <a:ext cx="82296" cy="82296"/>
          </a:xfrm>
          <a:prstGeom prst="ellipse">
            <a:avLst/>
          </a:prstGeom>
          <a:solidFill>
            <a:srgbClr val="7769D4"/>
          </a:solidFill>
          <a:ln w="12700">
            <a:solidFill>
              <a:srgbClr val="7769D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577072" y="491947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 completeness and blocked-query rate</a:t>
            </a:r>
            <a:endParaRPr lang="en-US" sz="1060" dirty="0"/>
          </a:p>
        </p:txBody>
      </p:sp>
      <p:sp>
        <p:nvSpPr>
          <p:cNvPr id="49" name="Text 47"/>
          <p:cNvSpPr/>
          <p:nvPr/>
        </p:nvSpPr>
        <p:spPr>
          <a:xfrm>
            <a:off x="640080" y="5641848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kern="0" spc="110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INITIAL 90-DAY PILOT HYPOTHESES — TO VALIDATE</a:t>
            </a:r>
            <a:endParaRPr lang="en-US" sz="880" dirty="0"/>
          </a:p>
        </p:txBody>
      </p:sp>
      <p:sp>
        <p:nvSpPr>
          <p:cNvPr id="50" name="Shape 48"/>
          <p:cNvSpPr/>
          <p:nvPr/>
        </p:nvSpPr>
        <p:spPr>
          <a:xfrm>
            <a:off x="640080" y="5897880"/>
            <a:ext cx="2523744" cy="438912"/>
          </a:xfrm>
          <a:prstGeom prst="roundRect">
            <a:avLst>
              <a:gd name="adj" fmla="val 12500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8952" y="601675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3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&lt;15 MIN</a:t>
            </a:r>
            <a:endParaRPr lang="en-US" sz="1130" dirty="0"/>
          </a:p>
        </p:txBody>
      </p:sp>
      <p:sp>
        <p:nvSpPr>
          <p:cNvPr id="52" name="Text 50"/>
          <p:cNvSpPr/>
          <p:nvPr/>
        </p:nvSpPr>
        <p:spPr>
          <a:xfrm>
            <a:off x="1444752" y="600760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9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first approval</a:t>
            </a:r>
            <a:endParaRPr lang="en-US" sz="890" dirty="0"/>
          </a:p>
        </p:txBody>
      </p:sp>
      <p:sp>
        <p:nvSpPr>
          <p:cNvPr id="53" name="Shape 51"/>
          <p:cNvSpPr/>
          <p:nvPr/>
        </p:nvSpPr>
        <p:spPr>
          <a:xfrm>
            <a:off x="3383280" y="5897880"/>
            <a:ext cx="2523744" cy="438912"/>
          </a:xfrm>
          <a:prstGeom prst="roundRect">
            <a:avLst>
              <a:gd name="adj" fmla="val 12500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502152" y="601675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3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&gt;80%</a:t>
            </a:r>
            <a:endParaRPr lang="en-US" sz="1130" dirty="0"/>
          </a:p>
        </p:txBody>
      </p:sp>
      <p:sp>
        <p:nvSpPr>
          <p:cNvPr id="55" name="Text 53"/>
          <p:cNvSpPr/>
          <p:nvPr/>
        </p:nvSpPr>
        <p:spPr>
          <a:xfrm>
            <a:off x="4187952" y="600760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9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high-risk exceptions caught first</a:t>
            </a:r>
            <a:endParaRPr lang="en-US" sz="890" dirty="0"/>
          </a:p>
        </p:txBody>
      </p:sp>
      <p:sp>
        <p:nvSpPr>
          <p:cNvPr id="56" name="Shape 54"/>
          <p:cNvSpPr/>
          <p:nvPr/>
        </p:nvSpPr>
        <p:spPr>
          <a:xfrm>
            <a:off x="6126480" y="5897880"/>
            <a:ext cx="2523744" cy="438912"/>
          </a:xfrm>
          <a:prstGeom prst="roundRect">
            <a:avLst>
              <a:gd name="adj" fmla="val 12500"/>
            </a:avLst>
          </a:prstGeom>
          <a:solidFill>
            <a:srgbClr val="E5F7EF"/>
          </a:solidFill>
          <a:ln w="12700">
            <a:solidFill>
              <a:srgbClr val="E5F7E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245352" y="601675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30" b="1" dirty="0">
                <a:solidFill>
                  <a:srgbClr val="39B98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&lt;1 DAY</a:t>
            </a:r>
            <a:endParaRPr lang="en-US" sz="1130" dirty="0"/>
          </a:p>
        </p:txBody>
      </p:sp>
      <p:sp>
        <p:nvSpPr>
          <p:cNvPr id="58" name="Text 56"/>
          <p:cNvSpPr/>
          <p:nvPr/>
        </p:nvSpPr>
        <p:spPr>
          <a:xfrm>
            <a:off x="6931152" y="600760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9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delivery to invoice</a:t>
            </a:r>
            <a:endParaRPr lang="en-US" sz="890" dirty="0"/>
          </a:p>
        </p:txBody>
      </p:sp>
      <p:sp>
        <p:nvSpPr>
          <p:cNvPr id="59" name="Shape 57"/>
          <p:cNvSpPr/>
          <p:nvPr/>
        </p:nvSpPr>
        <p:spPr>
          <a:xfrm>
            <a:off x="8869680" y="5897880"/>
            <a:ext cx="2523744" cy="438912"/>
          </a:xfrm>
          <a:prstGeom prst="roundRect">
            <a:avLst>
              <a:gd name="adj" fmla="val 12500"/>
            </a:avLst>
          </a:prstGeom>
          <a:solidFill>
            <a:srgbClr val="EEEAFE"/>
          </a:solidFill>
          <a:ln w="12700">
            <a:solidFill>
              <a:srgbClr val="EEEAF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988552" y="601675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30" b="1" dirty="0">
                <a:solidFill>
                  <a:srgbClr val="7769D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</a:t>
            </a:r>
            <a:endParaRPr lang="en-US" sz="1130" dirty="0"/>
          </a:p>
        </p:txBody>
      </p:sp>
      <p:sp>
        <p:nvSpPr>
          <p:cNvPr id="61" name="Text 59"/>
          <p:cNvSpPr/>
          <p:nvPr/>
        </p:nvSpPr>
        <p:spPr>
          <a:xfrm>
            <a:off x="9674352" y="600760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9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unsafe executed actions</a:t>
            </a:r>
            <a:endParaRPr lang="en-US" sz="89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FLEET COPILOT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794760" y="6510528"/>
            <a:ext cx="4617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20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GO-TO-MARKET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744200" y="649224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PROTOTYPE TO PILOT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1323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 with found money. Expand as trust is earned.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40080" y="1426464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Billing proves ROI in week one; daily operations earns the right to broader autonomy.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40080" y="1874520"/>
            <a:ext cx="2944368" cy="3986784"/>
          </a:xfrm>
          <a:prstGeom prst="roundRect">
            <a:avLst>
              <a:gd name="adj" fmla="val 1863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74520"/>
            <a:ext cx="64008" cy="3986784"/>
          </a:xfrm>
          <a:prstGeom prst="rect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029968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Ideal customer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41248" y="2441448"/>
            <a:ext cx="2542032" cy="3255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endParaRPr lang="en-US" sz="1110" dirty="0"/>
          </a:p>
        </p:txBody>
      </p:sp>
      <p:sp>
        <p:nvSpPr>
          <p:cNvPr id="13" name="Text 11"/>
          <p:cNvSpPr/>
          <p:nvPr/>
        </p:nvSpPr>
        <p:spPr>
          <a:xfrm>
            <a:off x="896112" y="2688336"/>
            <a:ext cx="1024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5–50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1901952" y="2880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kern="0" spc="130" dirty="0">
                <a:solidFill>
                  <a:srgbClr val="8A98A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TRUCKS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896112" y="3557016"/>
            <a:ext cx="82296" cy="822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0704" y="3456432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For-hire fleet; owner and dispatcher are often the buyers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6112" y="4142232"/>
            <a:ext cx="82296" cy="822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0704" y="4041648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Spreadsheets, phones, QuickBooks, or a disliked legacy TMS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96112" y="4727448"/>
            <a:ext cx="82296" cy="822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0704" y="4626864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Feels every empty mile, late surprise, and delayed invoice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96112" y="5358384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first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572768" y="532180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 pain density, measurable ROI, and short buying cycles.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3803904" y="1874520"/>
            <a:ext cx="4270248" cy="3986784"/>
          </a:xfrm>
          <a:prstGeom prst="roundRect">
            <a:avLst>
              <a:gd name="adj" fmla="val 1376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41648" y="20848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39B98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TRUST LADDER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050792" y="2670048"/>
            <a:ext cx="310896" cy="310896"/>
          </a:xfrm>
          <a:prstGeom prst="ellipse">
            <a:avLst/>
          </a:prstGeom>
          <a:solidFill>
            <a:srgbClr val="39B980"/>
          </a:solidFill>
          <a:ln w="12700">
            <a:solidFill>
              <a:srgbClr val="39B9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50792" y="2706624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07992" y="2615184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Billing Auditor</a:t>
            </a:r>
            <a:endParaRPr lang="en-US" sz="1180" dirty="0"/>
          </a:p>
        </p:txBody>
      </p:sp>
      <p:sp>
        <p:nvSpPr>
          <p:cNvPr id="28" name="Text 26"/>
          <p:cNvSpPr/>
          <p:nvPr/>
        </p:nvSpPr>
        <p:spPr>
          <a:xfrm>
            <a:off x="5870448" y="2633472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40" b="1" dirty="0">
                <a:solidFill>
                  <a:srgbClr val="39B98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$30–40 / truck / month</a:t>
            </a:r>
            <a:endParaRPr lang="en-US" sz="940" dirty="0"/>
          </a:p>
        </p:txBody>
      </p:sp>
      <p:sp>
        <p:nvSpPr>
          <p:cNvPr id="29" name="Text 27"/>
          <p:cNvSpPr/>
          <p:nvPr/>
        </p:nvSpPr>
        <p:spPr>
          <a:xfrm>
            <a:off x="4507992" y="292608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 missed charges and shorten time-to-invoice.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4206240" y="3054096"/>
            <a:ext cx="0" cy="502920"/>
          </a:xfrm>
          <a:prstGeom prst="line">
            <a:avLst/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50792" y="3602736"/>
            <a:ext cx="310896" cy="3108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050792" y="3639312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07992" y="3547872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Alerts + Dispatch</a:t>
            </a:r>
            <a:endParaRPr lang="en-US" sz="1180" dirty="0"/>
          </a:p>
        </p:txBody>
      </p:sp>
      <p:sp>
        <p:nvSpPr>
          <p:cNvPr id="34" name="Text 32"/>
          <p:cNvSpPr/>
          <p:nvPr/>
        </p:nvSpPr>
        <p:spPr>
          <a:xfrm>
            <a:off x="5870448" y="3566160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4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Expand with native telemetry</a:t>
            </a:r>
            <a:endParaRPr lang="en-US" sz="940" dirty="0"/>
          </a:p>
        </p:txBody>
      </p:sp>
      <p:sp>
        <p:nvSpPr>
          <p:cNvPr id="35" name="Text 33"/>
          <p:cNvSpPr/>
          <p:nvPr/>
        </p:nvSpPr>
        <p:spPr>
          <a:xfrm>
            <a:off x="4507992" y="3858768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Become the dispatcher’s daily exception workspace.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4206240" y="3986784"/>
            <a:ext cx="0" cy="502920"/>
          </a:xfrm>
          <a:prstGeom prst="line">
            <a:avLst/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50792" y="4535424"/>
            <a:ext cx="310896" cy="310896"/>
          </a:xfrm>
          <a:prstGeom prst="ellipse">
            <a:avLst/>
          </a:prstGeom>
          <a:solidFill>
            <a:srgbClr val="3C91F3"/>
          </a:solidFill>
          <a:ln w="12700">
            <a:solidFill>
              <a:srgbClr val="3C91F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50792" y="4572000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507992" y="4480560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Full Copilot</a:t>
            </a:r>
            <a:endParaRPr lang="en-US" sz="1180" dirty="0"/>
          </a:p>
        </p:txBody>
      </p:sp>
      <p:sp>
        <p:nvSpPr>
          <p:cNvPr id="40" name="Text 38"/>
          <p:cNvSpPr/>
          <p:nvPr/>
        </p:nvSpPr>
        <p:spPr>
          <a:xfrm>
            <a:off x="5870448" y="4498848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40" b="1" dirty="0">
                <a:solidFill>
                  <a:srgbClr val="3C91F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$75–90 / truck / month</a:t>
            </a:r>
            <a:endParaRPr lang="en-US" sz="940" dirty="0"/>
          </a:p>
        </p:txBody>
      </p:sp>
      <p:sp>
        <p:nvSpPr>
          <p:cNvPr id="41" name="Text 39"/>
          <p:cNvSpPr/>
          <p:nvPr/>
        </p:nvSpPr>
        <p:spPr>
          <a:xfrm>
            <a:off x="4507992" y="4791456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5C6C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and safety history become the retention moat.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4050792" y="5404104"/>
            <a:ext cx="3767328" cy="256032"/>
          </a:xfrm>
          <a:prstGeom prst="roundRect">
            <a:avLst>
              <a:gd name="adj" fmla="val 21429"/>
            </a:avLst>
          </a:prstGeom>
          <a:solidFill>
            <a:srgbClr val="E5F7EF"/>
          </a:solidFill>
          <a:ln w="12700">
            <a:solidFill>
              <a:srgbClr val="E5F7E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87952" y="5468112"/>
            <a:ext cx="34930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39B98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Autonomy rises only after approval and edit metrics earn it.</a:t>
            </a:r>
            <a:endParaRPr lang="en-US" sz="860" dirty="0"/>
          </a:p>
        </p:txBody>
      </p:sp>
      <p:sp>
        <p:nvSpPr>
          <p:cNvPr id="44" name="Shape 42"/>
          <p:cNvSpPr/>
          <p:nvPr/>
        </p:nvSpPr>
        <p:spPr>
          <a:xfrm>
            <a:off x="8293608" y="1874520"/>
            <a:ext cx="3227832" cy="3986784"/>
          </a:xfrm>
          <a:prstGeom prst="roundRect">
            <a:avLst>
              <a:gd name="adj" fmla="val 1700"/>
            </a:avLst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93608" y="1874520"/>
            <a:ext cx="64008" cy="3986784"/>
          </a:xfrm>
          <a:prstGeom prst="rect">
            <a:avLst/>
          </a:prstGeom>
          <a:solidFill>
            <a:srgbClr val="7769D4"/>
          </a:solidFill>
          <a:ln w="12700">
            <a:solidFill>
              <a:srgbClr val="7769D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494776" y="2029968"/>
            <a:ext cx="28254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769D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Trucker Path can win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494776" y="2441448"/>
            <a:ext cx="2825496" cy="3255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endParaRPr lang="en-US" sz="1110" dirty="0"/>
          </a:p>
        </p:txBody>
      </p:sp>
      <p:sp>
        <p:nvSpPr>
          <p:cNvPr id="48" name="Shape 46"/>
          <p:cNvSpPr/>
          <p:nvPr/>
        </p:nvSpPr>
        <p:spPr>
          <a:xfrm>
            <a:off x="8540496" y="2816352"/>
            <a:ext cx="82296" cy="82296"/>
          </a:xfrm>
          <a:prstGeom prst="ellipse">
            <a:avLst/>
          </a:prstGeom>
          <a:solidFill>
            <a:srgbClr val="7769D4"/>
          </a:solidFill>
          <a:ln w="12700">
            <a:solidFill>
              <a:srgbClr val="7769D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705088" y="27157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driver network is the funnel: scans can seed the fleet-side audit</a:t>
            </a:r>
            <a:endParaRPr lang="en-US" sz="1040" dirty="0"/>
          </a:p>
        </p:txBody>
      </p:sp>
      <p:sp>
        <p:nvSpPr>
          <p:cNvPr id="50" name="Shape 48"/>
          <p:cNvSpPr/>
          <p:nvPr/>
        </p:nvSpPr>
        <p:spPr>
          <a:xfrm>
            <a:off x="8540496" y="3474720"/>
            <a:ext cx="82296" cy="82296"/>
          </a:xfrm>
          <a:prstGeom prst="ellipse">
            <a:avLst/>
          </a:prstGeom>
          <a:solidFill>
            <a:srgbClr val="7769D4"/>
          </a:solidFill>
          <a:ln w="12700">
            <a:solidFill>
              <a:srgbClr val="7769D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705088" y="3374136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ELD / Command fleets already have the telemetry needed for activation</a:t>
            </a:r>
            <a:endParaRPr lang="en-US" sz="1040" dirty="0"/>
          </a:p>
        </p:txBody>
      </p:sp>
      <p:sp>
        <p:nvSpPr>
          <p:cNvPr id="52" name="Shape 50"/>
          <p:cNvSpPr/>
          <p:nvPr/>
        </p:nvSpPr>
        <p:spPr>
          <a:xfrm>
            <a:off x="8540496" y="4133088"/>
            <a:ext cx="82296" cy="82296"/>
          </a:xfrm>
          <a:prstGeom prst="ellipse">
            <a:avLst/>
          </a:prstGeom>
          <a:solidFill>
            <a:srgbClr val="7769D4"/>
          </a:solidFill>
          <a:ln w="12700">
            <a:solidFill>
              <a:srgbClr val="7769D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705088" y="4032504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14-day “billing archaeology” trial proves value before the sale</a:t>
            </a:r>
            <a:endParaRPr lang="en-US" sz="1040" dirty="0"/>
          </a:p>
        </p:txBody>
      </p:sp>
      <p:sp>
        <p:nvSpPr>
          <p:cNvPr id="54" name="Shape 52"/>
          <p:cNvSpPr/>
          <p:nvPr/>
        </p:nvSpPr>
        <p:spPr>
          <a:xfrm>
            <a:off x="8540496" y="4882896"/>
            <a:ext cx="2724912" cy="0"/>
          </a:xfrm>
          <a:prstGeom prst="line">
            <a:avLst/>
          </a:prstGeom>
          <a:solidFill>
            <a:srgbClr val="FFFFFF"/>
          </a:solidFill>
          <a:ln w="12700">
            <a:solidFill>
              <a:srgbClr val="DDE4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540496" y="51206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kern="0" spc="120" dirty="0">
                <a:solidFill>
                  <a:srgbClr val="39B98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FIRST PILOT</a:t>
            </a:r>
            <a:endParaRPr lang="en-US" sz="920" dirty="0"/>
          </a:p>
        </p:txBody>
      </p:sp>
      <p:sp>
        <p:nvSpPr>
          <p:cNvPr id="56" name="Text 54"/>
          <p:cNvSpPr/>
          <p:nvPr/>
        </p:nvSpPr>
        <p:spPr>
          <a:xfrm>
            <a:off x="8540496" y="5422392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17223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3–5 fleets  ·  90 days of documents + telemetry  ·  validate recovered dollars and trust</a:t>
            </a:r>
            <a:endParaRPr lang="en-US" sz="920" dirty="0"/>
          </a:p>
        </p:txBody>
      </p:sp>
      <p:sp>
        <p:nvSpPr>
          <p:cNvPr id="57" name="Shape 55"/>
          <p:cNvSpPr/>
          <p:nvPr/>
        </p:nvSpPr>
        <p:spPr>
          <a:xfrm>
            <a:off x="640080" y="6053328"/>
            <a:ext cx="10881360" cy="310896"/>
          </a:xfrm>
          <a:prstGeom prst="roundRect">
            <a:avLst>
              <a:gd name="adj" fmla="val 17647"/>
            </a:avLst>
          </a:prstGeom>
          <a:solidFill>
            <a:srgbClr val="101722"/>
          </a:solidFill>
          <a:ln w="12700">
            <a:solidFill>
              <a:srgbClr val="10172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22960" y="6135624"/>
            <a:ext cx="10515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Fleet Copilot gives small fleets an AI operating layer—without taking control away from the dispatcher.</a:t>
            </a:r>
            <a:endParaRPr lang="en-US" sz="97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2058</Words>
  <Application>Microsoft Office PowerPoint</Application>
  <PresentationFormat>Widescreen</PresentationFormat>
  <Paragraphs>403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Trucker Path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 Copilot — Trucker Path PM Take-Home</dc:title>
  <dc:subject>AI-native fleet operations assistant for small fleets</dc:subject>
  <dc:creator>Aditya</dc:creator>
  <cp:lastModifiedBy>Aditya Singh (Student)</cp:lastModifiedBy>
  <cp:revision>2</cp:revision>
  <dcterms:created xsi:type="dcterms:W3CDTF">2026-07-15T02:19:51Z</dcterms:created>
  <dcterms:modified xsi:type="dcterms:W3CDTF">2026-07-15T02:40:25Z</dcterms:modified>
</cp:coreProperties>
</file>